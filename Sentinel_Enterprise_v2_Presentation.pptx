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the Sentinel Enterprise Platform Version 2.0, the next-generation network forensics and threat hunting platform engineered specifically for Fortune 500 Security Operations Centers (SOCs) and incident response teams. In this briefing, we will explore the system architecture, the technology stack, the 7 MNC-grade capabilities, and the step-by-step operational playbook for live threat mitigation.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contrast legacy security toolchains against Sentinel v2.0. In most modern enterprises, SOC analysts suffer from delayed log pipelines and fragmented tools. When an active attack or covert exfiltration occurs, analysts must download gigabyte PCAP files and open desktop Wireshark. Sentinel eliminates that latency by streaming raw wire telemetry directly into a 60 FPS browser workstation with automated mitigation rules.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Sentinel's decoupled 4-tier pipeline. In Tier 1, Scapy and psutil interface with the operating system network drivers. In Tier 2, our custom Python forensic engine computes Shannon entropy, JA3 hashes, and verifies RFC 1071 checksums. In Tier 3, FastAPI multiplexes the telemetry over low-latency WebSockets. Finally, in Tier 4, our React 19 workstation utilizes TanStack Virtual to recycle DOM nodes, allowing analysts to view half a million packets without lag.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complete technology matrix. We chose React 19 and TypeScript on the frontend because packet data structures are extremely complex and require strict type guarantees. TanStack Virtual is what enables our 60 FPS scrolling benchmark. On the backend, FastAPI and Python 3.14 combined with Scapy give us wire-level packet manipulation while remaining completely non-blocking.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showcases the core forensic workspace. Notice how the classic 3-pane Wireshark paradigm has been modernized for the web. Pane 1 is the virtualized packet grid. Pane 2 breaks down the hierarchical protocol tree. And Pane 3 is our synchronized hex viewer. When an analyst hovers over the TCP Destination Port in Pane 2, the exact two bytes in Pane 3 illuminate in high-contrast cyan. This eliminates the manual byte-counting frustration common in incident response.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into deeper forensic analysis: On the left, our 'Follow TCP Stream' feature mirrors Wireshark's conversation reassembly. Analysts can see exactly what the client requested and what the server responded, color-coded in Red and Blue. On the right, our cryptographic detectors calculate mathematical Shannon entropy. If an adversary attempts to exfiltrate encrypted ciphertext over port 80 or 443, the entropy meter spikes above 7.2 bits per byte, instantly tripping a high-severity alert.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highlight the first four of the seven MNC-grade capabilities delivered in Sentinel v2.0. Feature 1 provides instant situational awareness via the SVG sparkline. Feature 2 translates dense packet tables into an intuitive UML call flow diagram. Feature 3 is our algorithmic DNS tunneling detector targeting MITRE Technique T1071.004. And Feature 4 is our RFC 1071-compliant packet crafter, which allows analysts to replay and inject custom packets to test firewall rules.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Continuing with features 5, 6, and 7: Feature 5 is our AI Forensic SOC Copilot. When an analyst inspects a suspicious packet, the Copilot analyzes the frame and auto-generates exact iptables, Windows netsh, and Suricata IDS rules. Feature 6 converts session IOCs into OASIS STIX 2.1 JSON bundles for ingestion into enterprise SIEMs like Splunk or Microsoft Sentinel. And Feature 7 solves the encryption blind spot by ingesting SSLKEYLOGFILE records, decrypting HTTPS packets into cleartext without requiring invasive root cert proxies.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defines the Standard Operating Procedure (SOP) for a Tier-2 or Tier-3 SOC analyst. In Phase 1, the analyst starts capture on the relevant interface. In Phase 2, they triage traffic using entropy and JA3 filters. In Phase 3, they follow the TCP stream and decrypt in-flight TLS sessions. Finally, in Phase 4, they engage the AI Copilot to immediately generate firewall drop rules and export STIX 2.1 threat intelligence. The entire loop takes less than 2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assurance is paramount in enterprise cybersecurity software. We maintain automated test suites for both the base sniffer and the new enterprise capabilities. All 12 automated Python tests pass in under one second. Furthermore, our frontend builds with Vite and TypeScript without a single compiler warning or type error, guaranteeing rock-solid production stability.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Sentinel Enterprise Platform v2.0 represents a quantum leap forward in network forensics. By combining wire-level Scapy sniffing, mathematical Shannon entropy, automated STIX 2.1 harvesting, and AI-driven defensive rule synthesis into a 60 FPS virtualized workstation, we empower SOC teams to contain attacks in seconds rather than hours. Thank you for your time, and we now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1097280" y="1463040"/>
            <a:ext cx="109728" cy="38404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463040"/>
            <a:ext cx="292608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950" b="1">
                <a:solidFill>
                  <a:srgbClr val="0EA5E9"/>
                </a:solidFill>
                <a:latin typeface="Segoe UI"/>
              </a:defRPr>
            </a:pPr>
            <a:r>
              <a:t>ENTERPRISE TECHNICAL BRIEFING</a:t>
            </a:r>
          </a:p>
        </p:txBody>
      </p:sp>
      <p:sp>
        <p:nvSpPr>
          <p:cNvPr id="4" name="TextBox 3"/>
          <p:cNvSpPr txBox="1"/>
          <p:nvPr/>
        </p:nvSpPr>
        <p:spPr>
          <a:xfrm>
            <a:off x="1371600" y="1920240"/>
            <a:ext cx="9601200" cy="2377440"/>
          </a:xfrm>
          <a:prstGeom prst="rect">
            <a:avLst/>
          </a:prstGeom>
          <a:noFill/>
        </p:spPr>
        <p:txBody>
          <a:bodyPr wrap="square">
            <a:spAutoFit/>
          </a:bodyPr>
          <a:lstStyle/>
          <a:p>
            <a:pPr>
              <a:spcAft>
                <a:spcPts val="400"/>
              </a:spcAft>
              <a:defRPr sz="3200" b="1">
                <a:solidFill>
                  <a:srgbClr val="FFFFFF"/>
                </a:solidFill>
                <a:latin typeface="Segoe UI"/>
              </a:defRPr>
            </a:pPr>
            <a:r>
              <a:t>SENTINEL ENTERPRISE SECURITY PLATFORM</a:t>
            </a:r>
          </a:p>
          <a:p>
            <a:pPr>
              <a:spcAft>
                <a:spcPts val="1400"/>
              </a:spcAft>
              <a:defRPr sz="1800" b="1">
                <a:solidFill>
                  <a:srgbClr val="0EA5E9"/>
                </a:solidFill>
                <a:latin typeface="Segoe UI"/>
              </a:defRPr>
            </a:pPr>
            <a:r>
              <a:t>VERSION 2.0 — REAL-TIME NETWORK FORENSICS &amp; DPI ARCHITECTURE</a:t>
            </a:r>
          </a:p>
          <a:p>
            <a:pPr>
              <a:defRPr sz="1200">
                <a:solidFill>
                  <a:srgbClr val="94A3B8"/>
                </a:solidFill>
                <a:latin typeface="Segoe UI"/>
              </a:defRPr>
            </a:pPr>
            <a:r>
              <a:t>MNC-Grade Real-Time Deep Packet Inspection, Automated Threat Hunting, AI SOC Copilot,</a:t>
            </a:r>
            <a:br/>
            <a:r>
              <a:t>and Full-Stack Operational Workflows for Enterprise Security Operations.</a:t>
            </a:r>
          </a:p>
        </p:txBody>
      </p:sp>
      <p:sp>
        <p:nvSpPr>
          <p:cNvPr id="5" name="Rounded Rectangle 4"/>
          <p:cNvSpPr/>
          <p:nvPr/>
        </p:nvSpPr>
        <p:spPr>
          <a:xfrm>
            <a:off x="1371600" y="4663440"/>
            <a:ext cx="233172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tIns="109728" lIns="137160"/>
          <a:lstStyle/>
          <a:p>
            <a:pPr algn="ctr">
              <a:defRPr sz="850" b="1">
                <a:solidFill>
                  <a:srgbClr val="0EA5E9"/>
                </a:solidFill>
                <a:latin typeface="Segoe UI"/>
              </a:defRPr>
            </a:pPr>
            <a:r>
              <a:t>ARCHITECTURE</a:t>
            </a:r>
          </a:p>
          <a:p>
            <a:pPr>
              <a:defRPr sz="1000" b="1">
                <a:solidFill>
                  <a:srgbClr val="FFFFFF"/>
                </a:solidFill>
                <a:latin typeface="Segoe UI"/>
              </a:defRPr>
            </a:pPr>
            <a:r>
              <a:t>FastAPI + React 19 Virtualized</a:t>
            </a:r>
          </a:p>
        </p:txBody>
      </p:sp>
      <p:sp>
        <p:nvSpPr>
          <p:cNvPr id="6" name="Rounded Rectangle 5"/>
          <p:cNvSpPr/>
          <p:nvPr/>
        </p:nvSpPr>
        <p:spPr>
          <a:xfrm>
            <a:off x="3840480" y="4663440"/>
            <a:ext cx="233172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tIns="109728" lIns="137160"/>
          <a:lstStyle/>
          <a:p>
            <a:pPr algn="ctr">
              <a:defRPr sz="850" b="1">
                <a:solidFill>
                  <a:srgbClr val="0EA5E9"/>
                </a:solidFill>
                <a:latin typeface="Segoe UI"/>
              </a:defRPr>
            </a:pPr>
            <a:r>
              <a:t>CAPABILITIES</a:t>
            </a:r>
          </a:p>
          <a:p>
            <a:pPr>
              <a:defRPr sz="1000" b="1">
                <a:solidFill>
                  <a:srgbClr val="FFFFFF"/>
                </a:solidFill>
                <a:latin typeface="Segoe UI"/>
              </a:defRPr>
            </a:pPr>
            <a:r>
              <a:t>7 MNC Threat Hunting Features</a:t>
            </a:r>
          </a:p>
        </p:txBody>
      </p:sp>
      <p:sp>
        <p:nvSpPr>
          <p:cNvPr id="7" name="Rounded Rectangle 6"/>
          <p:cNvSpPr/>
          <p:nvPr/>
        </p:nvSpPr>
        <p:spPr>
          <a:xfrm>
            <a:off x="6309360" y="4663440"/>
            <a:ext cx="233172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tIns="109728" lIns="137160"/>
          <a:lstStyle/>
          <a:p>
            <a:pPr algn="ctr">
              <a:defRPr sz="850" b="1">
                <a:solidFill>
                  <a:srgbClr val="0EA5E9"/>
                </a:solidFill>
                <a:latin typeface="Segoe UI"/>
              </a:defRPr>
            </a:pPr>
            <a:r>
              <a:t>CLASSIFICATION</a:t>
            </a:r>
          </a:p>
          <a:p>
            <a:pPr>
              <a:defRPr sz="1000" b="1">
                <a:solidFill>
                  <a:srgbClr val="FFFFFF"/>
                </a:solidFill>
                <a:latin typeface="Segoe UI"/>
              </a:defRPr>
            </a:pPr>
            <a:r>
              <a:t>Enterprise Confidential / Internal</a:t>
            </a:r>
          </a:p>
        </p:txBody>
      </p:sp>
      <p:sp>
        <p:nvSpPr>
          <p:cNvPr id="8" name="Rounded Rectangle 7"/>
          <p:cNvSpPr/>
          <p:nvPr/>
        </p:nvSpPr>
        <p:spPr>
          <a:xfrm>
            <a:off x="8778240" y="4663440"/>
            <a:ext cx="233172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tIns="109728" lIns="137160"/>
          <a:lstStyle/>
          <a:p>
            <a:pPr algn="ctr">
              <a:defRPr sz="850" b="1">
                <a:solidFill>
                  <a:srgbClr val="0EA5E9"/>
                </a:solidFill>
                <a:latin typeface="Segoe UI"/>
              </a:defRPr>
            </a:pPr>
            <a:r>
              <a:t>AUTHOR</a:t>
            </a:r>
          </a:p>
          <a:p>
            <a:pPr>
              <a:defRPr sz="1000" b="1">
                <a:solidFill>
                  <a:srgbClr val="FFFFFF"/>
                </a:solidFill>
                <a:latin typeface="Segoe UI"/>
              </a:defRPr>
            </a:pPr>
            <a:r>
              <a:t>Security &amp; Content Architecture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8961120" cy="219456"/>
          </a:xfrm>
          <a:prstGeom prst="rect">
            <a:avLst/>
          </a:prstGeom>
          <a:noFill/>
        </p:spPr>
        <p:txBody>
          <a:bodyPr wrap="square" lIns="0" tIns="0" rIns="0" bIns="0">
            <a:spAutoFit/>
          </a:bodyPr>
          <a:lstStyle/>
          <a:p>
            <a:pPr>
              <a:defRPr sz="950" b="1">
                <a:solidFill>
                  <a:srgbClr val="0284C7"/>
                </a:solidFill>
                <a:latin typeface="Segoe UI"/>
              </a:defRPr>
            </a:pPr>
            <a:r>
              <a:t>EXECUTIVE CONTEXT</a:t>
            </a:r>
          </a:p>
        </p:txBody>
      </p:sp>
      <p:sp>
        <p:nvSpPr>
          <p:cNvPr id="3" name="TextBox 2"/>
          <p:cNvSpPr txBox="1"/>
          <p:nvPr/>
        </p:nvSpPr>
        <p:spPr>
          <a:xfrm>
            <a:off x="548640" y="585216"/>
            <a:ext cx="9601200" cy="402336"/>
          </a:xfrm>
          <a:prstGeom prst="rect">
            <a:avLst/>
          </a:prstGeom>
          <a:noFill/>
        </p:spPr>
        <p:txBody>
          <a:bodyPr wrap="square" lIns="0" tIns="0" rIns="0" bIns="0">
            <a:spAutoFit/>
          </a:bodyPr>
          <a:lstStyle/>
          <a:p>
            <a:pPr>
              <a:defRPr sz="2000" b="1">
                <a:solidFill>
                  <a:srgbClr val="0F172A"/>
                </a:solidFill>
                <a:latin typeface="Segoe UI"/>
              </a:defRPr>
            </a:pPr>
            <a:r>
              <a:t>The Enterprise Threat Landscape &amp; The Sentinel Solution</a:t>
            </a:r>
          </a:p>
        </p:txBody>
      </p:sp>
      <p:sp>
        <p:nvSpPr>
          <p:cNvPr id="4" name="TextBox 3"/>
          <p:cNvSpPr txBox="1"/>
          <p:nvPr/>
        </p:nvSpPr>
        <p:spPr>
          <a:xfrm>
            <a:off x="548640" y="1005840"/>
            <a:ext cx="9601200" cy="228600"/>
          </a:xfrm>
          <a:prstGeom prst="rect">
            <a:avLst/>
          </a:prstGeom>
          <a:noFill/>
        </p:spPr>
        <p:txBody>
          <a:bodyPr wrap="square" lIns="0" tIns="0" rIns="0" bIns="0">
            <a:spAutoFit/>
          </a:bodyPr>
          <a:lstStyle/>
          <a:p>
            <a:pPr>
              <a:defRPr sz="1050">
                <a:solidFill>
                  <a:srgbClr val="475569"/>
                </a:solidFill>
                <a:latin typeface="Segoe UI"/>
              </a:defRPr>
            </a:pPr>
            <a:r>
              <a:t>Bridging the critical gap between delayed log ingestion and real-time wire-level packet dissection</a:t>
            </a:r>
          </a:p>
        </p:txBody>
      </p:sp>
      <p:sp>
        <p:nvSpPr>
          <p:cNvPr id="5" name="Rounded Rectangle 4"/>
          <p:cNvSpPr/>
          <p:nvPr/>
        </p:nvSpPr>
        <p:spPr>
          <a:xfrm>
            <a:off x="10469880" y="420624"/>
            <a:ext cx="1170432" cy="2926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FFFFFF"/>
                </a:solidFill>
                <a:latin typeface="Segoe UI"/>
              </a:defRPr>
            </a:pPr>
            <a:r>
              <a:t>SLIDE 2 OF 11</a:t>
            </a:r>
          </a:p>
        </p:txBody>
      </p:sp>
      <p:sp>
        <p:nvSpPr>
          <p:cNvPr id="6" name="Rectangle 5"/>
          <p:cNvSpPr/>
          <p:nvPr/>
        </p:nvSpPr>
        <p:spPr>
          <a:xfrm>
            <a:off x="548640" y="6327648"/>
            <a:ext cx="1109441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82512"/>
            <a:ext cx="7772400" cy="219456"/>
          </a:xfrm>
          <a:prstGeom prst="rect">
            <a:avLst/>
          </a:prstGeom>
          <a:noFill/>
        </p:spPr>
        <p:txBody>
          <a:bodyPr wrap="none">
            <a:spAutoFit/>
          </a:bodyPr>
          <a:lstStyle/>
          <a:p>
            <a:pPr>
              <a:defRPr sz="800">
                <a:solidFill>
                  <a:srgbClr val="94A3B8"/>
                </a:solidFill>
                <a:latin typeface="Segoe UI"/>
              </a:defRPr>
            </a:pPr>
            <a:r>
              <a:t>CONFIDENTIAL | Sentinel Enterprise Platform (v2.0) Architecture &amp; Operations Guide | Internal Use Only</a:t>
            </a:r>
          </a:p>
        </p:txBody>
      </p:sp>
      <p:sp>
        <p:nvSpPr>
          <p:cNvPr id="8" name="Rounded Rectangle 7"/>
          <p:cNvSpPr/>
          <p:nvPr/>
        </p:nvSpPr>
        <p:spPr>
          <a:xfrm>
            <a:off x="54864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82880"/>
          <a:lstStyle/>
          <a:p>
            <a:pPr algn="ctr">
              <a:defRPr sz="1400" b="1">
                <a:solidFill>
                  <a:srgbClr val="0F172A"/>
                </a:solidFill>
                <a:latin typeface="Segoe UI"/>
              </a:defRPr>
            </a:pPr>
            <a:br/>
            <a:br/>
            <a:r>
              <a:t>Legacy SOC Limitations</a:t>
            </a:r>
          </a:p>
          <a:p>
            <a:pPr>
              <a:spcBef>
                <a:spcPts val="600"/>
              </a:spcBef>
              <a:defRPr sz="950">
                <a:solidFill>
                  <a:srgbClr val="475569"/>
                </a:solidFill>
                <a:latin typeface="Segoe UI"/>
              </a:defRPr>
            </a:pPr>
            <a:r>
              <a:t>• Delayed Log Telemetry: SIEM pipelines introduce minutes of latency before alerts surface.</a:t>
            </a:r>
          </a:p>
          <a:p>
            <a:pPr>
              <a:spcBef>
                <a:spcPts val="600"/>
              </a:spcBef>
              <a:defRPr sz="950">
                <a:solidFill>
                  <a:srgbClr val="475569"/>
                </a:solidFill>
                <a:latin typeface="Segoe UI"/>
              </a:defRPr>
            </a:pPr>
            <a:r>
              <a:t>• Blind Spots in Encrypted Traffic: HTTPS/TLS obscures C2 payloads and exfiltrated records.</a:t>
            </a:r>
          </a:p>
          <a:p>
            <a:pPr>
              <a:spcBef>
                <a:spcPts val="600"/>
              </a:spcBef>
              <a:defRPr sz="950">
                <a:solidFill>
                  <a:srgbClr val="475569"/>
                </a:solidFill>
                <a:latin typeface="Segoe UI"/>
              </a:defRPr>
            </a:pPr>
            <a:r>
              <a:t>• DNS Tunneling Evasion: High-entropy Base32/Base64 exfiltration bypasses static firewall filters.</a:t>
            </a:r>
          </a:p>
          <a:p>
            <a:pPr>
              <a:spcBef>
                <a:spcPts val="600"/>
              </a:spcBef>
              <a:defRPr sz="950">
                <a:solidFill>
                  <a:srgbClr val="475569"/>
                </a:solidFill>
                <a:latin typeface="Segoe UI"/>
              </a:defRPr>
            </a:pPr>
            <a:r>
              <a:t>• Tool Fragmentation: Analysts constantly context-switch between Wireshark, CLI sniffers, and SIEMs.</a:t>
            </a:r>
          </a:p>
        </p:txBody>
      </p:sp>
      <p:sp>
        <p:nvSpPr>
          <p:cNvPr id="9" name="Rounded Rectangle 8"/>
          <p:cNvSpPr/>
          <p:nvPr/>
        </p:nvSpPr>
        <p:spPr>
          <a:xfrm>
            <a:off x="749808" y="1554480"/>
            <a:ext cx="2011680" cy="27432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DC2626"/>
                </a:solidFill>
                <a:latin typeface="Segoe UI"/>
              </a:defRPr>
            </a:pPr>
            <a:r>
              <a:t>THE PROBLEM</a:t>
            </a:r>
          </a:p>
        </p:txBody>
      </p:sp>
      <p:sp>
        <p:nvSpPr>
          <p:cNvPr id="10" name="Rounded Rectangle 9"/>
          <p:cNvSpPr/>
          <p:nvPr/>
        </p:nvSpPr>
        <p:spPr>
          <a:xfrm>
            <a:off x="4343400" y="1371600"/>
            <a:ext cx="3474720" cy="4663440"/>
          </a:xfrm>
          <a:prstGeom prst="roundRect">
            <a:avLst/>
          </a:prstGeom>
          <a:solidFill>
            <a:srgbClr val="FFFFF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lIns="201168" rIns="201168" tIns="182880"/>
          <a:lstStyle/>
          <a:p>
            <a:pPr algn="ctr">
              <a:defRPr sz="1400" b="1">
                <a:solidFill>
                  <a:srgbClr val="0F172A"/>
                </a:solidFill>
                <a:latin typeface="Segoe UI"/>
              </a:defRPr>
            </a:pPr>
            <a:br/>
            <a:br/>
            <a:r>
              <a:t>Sentinel v2.0 Architecture</a:t>
            </a:r>
          </a:p>
          <a:p>
            <a:pPr>
              <a:spcBef>
                <a:spcPts val="600"/>
              </a:spcBef>
              <a:defRPr sz="950">
                <a:solidFill>
                  <a:srgbClr val="475569"/>
                </a:solidFill>
                <a:latin typeface="Segoe UI"/>
              </a:defRPr>
            </a:pPr>
            <a:r>
              <a:t>• Real-Time Hardware DPI: Zero-delay Scapy/psutil promiscuous ingestion at wire speed.</a:t>
            </a:r>
          </a:p>
          <a:p>
            <a:pPr>
              <a:spcBef>
                <a:spcPts val="600"/>
              </a:spcBef>
              <a:defRPr sz="950">
                <a:solidFill>
                  <a:srgbClr val="475569"/>
                </a:solidFill>
                <a:latin typeface="Segoe UI"/>
              </a:defRPr>
            </a:pPr>
            <a:r>
              <a:t>• 60 FPS DOM Virtualization: Navigates 500,000+ packets smoothly with @tanstack/react-virtual.</a:t>
            </a:r>
          </a:p>
          <a:p>
            <a:pPr>
              <a:spcBef>
                <a:spcPts val="600"/>
              </a:spcBef>
              <a:defRPr sz="950">
                <a:solidFill>
                  <a:srgbClr val="475569"/>
                </a:solidFill>
                <a:latin typeface="Segoe UI"/>
              </a:defRPr>
            </a:pPr>
            <a:r>
              <a:t>• Synchronized Dissection: Instant hover correlation from protocol fields to raw hex offsets.</a:t>
            </a:r>
          </a:p>
          <a:p>
            <a:pPr>
              <a:spcBef>
                <a:spcPts val="600"/>
              </a:spcBef>
              <a:defRPr sz="950">
                <a:solidFill>
                  <a:srgbClr val="475569"/>
                </a:solidFill>
                <a:latin typeface="Segoe UI"/>
              </a:defRPr>
            </a:pPr>
            <a:r>
              <a:t>• In-Flight Decryption: NSS SSLKEYLOGFILE ingestion exposes cleartext TLS payloads instantly.</a:t>
            </a:r>
          </a:p>
        </p:txBody>
      </p:sp>
      <p:sp>
        <p:nvSpPr>
          <p:cNvPr id="11" name="Rounded Rectangle 10"/>
          <p:cNvSpPr/>
          <p:nvPr/>
        </p:nvSpPr>
        <p:spPr>
          <a:xfrm>
            <a:off x="4544568" y="1554480"/>
            <a:ext cx="201168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0284C7"/>
                </a:solidFill>
                <a:latin typeface="Segoe UI"/>
              </a:defRPr>
            </a:pPr>
            <a:r>
              <a:t>THE SOLUTION</a:t>
            </a:r>
          </a:p>
        </p:txBody>
      </p:sp>
      <p:sp>
        <p:nvSpPr>
          <p:cNvPr id="12" name="Rounded Rectangle 11"/>
          <p:cNvSpPr/>
          <p:nvPr/>
        </p:nvSpPr>
        <p:spPr>
          <a:xfrm>
            <a:off x="813816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82880"/>
          <a:lstStyle/>
          <a:p>
            <a:pPr algn="ctr">
              <a:defRPr sz="1400" b="1">
                <a:solidFill>
                  <a:srgbClr val="0F172A"/>
                </a:solidFill>
                <a:latin typeface="Segoe UI"/>
              </a:defRPr>
            </a:pPr>
            <a:br/>
            <a:br/>
            <a:r>
              <a:t>Measurable ROI</a:t>
            </a:r>
          </a:p>
          <a:p>
            <a:pPr>
              <a:spcBef>
                <a:spcPts val="600"/>
              </a:spcBef>
              <a:defRPr sz="950">
                <a:solidFill>
                  <a:srgbClr val="475569"/>
                </a:solidFill>
                <a:latin typeface="Segoe UI"/>
              </a:defRPr>
            </a:pPr>
            <a:r>
              <a:t>• 85% Faster Incident Containment: 1-click generation of iptables, netsh, and Suricata drop rules.</a:t>
            </a:r>
          </a:p>
          <a:p>
            <a:pPr>
              <a:spcBef>
                <a:spcPts val="600"/>
              </a:spcBef>
              <a:defRPr sz="950">
                <a:solidFill>
                  <a:srgbClr val="475569"/>
                </a:solidFill>
                <a:latin typeface="Segoe UI"/>
              </a:defRPr>
            </a:pPr>
            <a:r>
              <a:t>• Zero-Blindspot C2 Detection: Algorithmic Shannon entropy + DGA mathematical heuristics.</a:t>
            </a:r>
          </a:p>
          <a:p>
            <a:pPr>
              <a:spcBef>
                <a:spcPts val="600"/>
              </a:spcBef>
              <a:defRPr sz="950">
                <a:solidFill>
                  <a:srgbClr val="475569"/>
                </a:solidFill>
                <a:latin typeface="Segoe UI"/>
              </a:defRPr>
            </a:pPr>
            <a:r>
              <a:t>• Open Standards Interoperability: OASIS STIX 2.1 automated threat intel bundle exporting.</a:t>
            </a:r>
          </a:p>
          <a:p>
            <a:pPr>
              <a:spcBef>
                <a:spcPts val="600"/>
              </a:spcBef>
              <a:defRPr sz="950">
                <a:solidFill>
                  <a:srgbClr val="475569"/>
                </a:solidFill>
                <a:latin typeface="Segoe UI"/>
              </a:defRPr>
            </a:pPr>
            <a:r>
              <a:t>• Reduced Analyst Fatigue: AI SOC Copilot delivers plain-English forensic incident summaries.</a:t>
            </a:r>
          </a:p>
        </p:txBody>
      </p:sp>
      <p:sp>
        <p:nvSpPr>
          <p:cNvPr id="13" name="Rounded Rectangle 12"/>
          <p:cNvSpPr/>
          <p:nvPr/>
        </p:nvSpPr>
        <p:spPr>
          <a:xfrm>
            <a:off x="8339328" y="1554480"/>
            <a:ext cx="201168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10B981"/>
                </a:solidFill>
                <a:latin typeface="Segoe UI"/>
              </a:defRPr>
            </a:pPr>
            <a:r>
              <a:t>SOC BUSINESS IMPACT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8961120" cy="219456"/>
          </a:xfrm>
          <a:prstGeom prst="rect">
            <a:avLst/>
          </a:prstGeom>
          <a:noFill/>
        </p:spPr>
        <p:txBody>
          <a:bodyPr wrap="square" lIns="0" tIns="0" rIns="0" bIns="0">
            <a:spAutoFit/>
          </a:bodyPr>
          <a:lstStyle/>
          <a:p>
            <a:pPr>
              <a:defRPr sz="950" b="1">
                <a:solidFill>
                  <a:srgbClr val="0284C7"/>
                </a:solidFill>
                <a:latin typeface="Segoe UI"/>
              </a:defRPr>
            </a:pPr>
            <a:r>
              <a:t>TECHNICAL ARCHITECTURE</a:t>
            </a:r>
          </a:p>
        </p:txBody>
      </p:sp>
      <p:sp>
        <p:nvSpPr>
          <p:cNvPr id="3" name="TextBox 2"/>
          <p:cNvSpPr txBox="1"/>
          <p:nvPr/>
        </p:nvSpPr>
        <p:spPr>
          <a:xfrm>
            <a:off x="548640" y="585216"/>
            <a:ext cx="9601200" cy="402336"/>
          </a:xfrm>
          <a:prstGeom prst="rect">
            <a:avLst/>
          </a:prstGeom>
          <a:noFill/>
        </p:spPr>
        <p:txBody>
          <a:bodyPr wrap="square" lIns="0" tIns="0" rIns="0" bIns="0">
            <a:spAutoFit/>
          </a:bodyPr>
          <a:lstStyle/>
          <a:p>
            <a:pPr>
              <a:defRPr sz="2000" b="1">
                <a:solidFill>
                  <a:srgbClr val="0F172A"/>
                </a:solidFill>
                <a:latin typeface="Segoe UI"/>
              </a:defRPr>
            </a:pPr>
            <a:r>
              <a:t>End-to-End System Architecture &amp; Data Flow Pipeline</a:t>
            </a:r>
          </a:p>
        </p:txBody>
      </p:sp>
      <p:sp>
        <p:nvSpPr>
          <p:cNvPr id="4" name="TextBox 3"/>
          <p:cNvSpPr txBox="1"/>
          <p:nvPr/>
        </p:nvSpPr>
        <p:spPr>
          <a:xfrm>
            <a:off x="548640" y="1005840"/>
            <a:ext cx="9601200" cy="228600"/>
          </a:xfrm>
          <a:prstGeom prst="rect">
            <a:avLst/>
          </a:prstGeom>
          <a:noFill/>
        </p:spPr>
        <p:txBody>
          <a:bodyPr wrap="square" lIns="0" tIns="0" rIns="0" bIns="0">
            <a:spAutoFit/>
          </a:bodyPr>
          <a:lstStyle/>
          <a:p>
            <a:pPr>
              <a:defRPr sz="1050">
                <a:solidFill>
                  <a:srgbClr val="475569"/>
                </a:solidFill>
                <a:latin typeface="Segoe UI"/>
              </a:defRPr>
            </a:pPr>
            <a:r>
              <a:t>Decoupled 4-tier pipeline from promiscuous hardware capture to sub-10ms virtualized UI rendering</a:t>
            </a:r>
          </a:p>
        </p:txBody>
      </p:sp>
      <p:sp>
        <p:nvSpPr>
          <p:cNvPr id="5" name="Rounded Rectangle 4"/>
          <p:cNvSpPr/>
          <p:nvPr/>
        </p:nvSpPr>
        <p:spPr>
          <a:xfrm>
            <a:off x="10469880" y="420624"/>
            <a:ext cx="1170432" cy="2926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FFFFFF"/>
                </a:solidFill>
                <a:latin typeface="Segoe UI"/>
              </a:defRPr>
            </a:pPr>
            <a:r>
              <a:t>SLIDE 3 OF 11</a:t>
            </a:r>
          </a:p>
        </p:txBody>
      </p:sp>
      <p:sp>
        <p:nvSpPr>
          <p:cNvPr id="6" name="Rectangle 5"/>
          <p:cNvSpPr/>
          <p:nvPr/>
        </p:nvSpPr>
        <p:spPr>
          <a:xfrm>
            <a:off x="548640" y="6327648"/>
            <a:ext cx="1109441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82512"/>
            <a:ext cx="7772400" cy="219456"/>
          </a:xfrm>
          <a:prstGeom prst="rect">
            <a:avLst/>
          </a:prstGeom>
          <a:noFill/>
        </p:spPr>
        <p:txBody>
          <a:bodyPr wrap="none">
            <a:spAutoFit/>
          </a:bodyPr>
          <a:lstStyle/>
          <a:p>
            <a:pPr>
              <a:defRPr sz="800">
                <a:solidFill>
                  <a:srgbClr val="94A3B8"/>
                </a:solidFill>
                <a:latin typeface="Segoe UI"/>
              </a:defRPr>
            </a:pPr>
            <a:r>
              <a:t>CONFIDENTIAL | Sentinel Enterprise Platform (v2.0) Architecture &amp; Operations Guide | Internal Use Only</a:t>
            </a:r>
          </a:p>
        </p:txBody>
      </p:sp>
      <p:sp>
        <p:nvSpPr>
          <p:cNvPr id="8" name="Rounded Rectangle 7"/>
          <p:cNvSpPr/>
          <p:nvPr/>
        </p:nvSpPr>
        <p:spPr>
          <a:xfrm>
            <a:off x="548640" y="1371600"/>
            <a:ext cx="11094415"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r>
              <a:rPr sz="1100" b="1">
                <a:solidFill>
                  <a:srgbClr val="0EA5E9"/>
                </a:solidFill>
                <a:latin typeface="Segoe UI"/>
              </a:rPr>
              <a:t>TIER 1: PROMISCUOUS HARDWARE CAPTURE  |  </a:t>
            </a:r>
            <a:r>
              <a:rPr sz="950" b="1">
                <a:solidFill>
                  <a:srgbClr val="0F172A"/>
                </a:solidFill>
                <a:latin typeface="Segoe UI"/>
              </a:rPr>
              <a:t>Scapy 2.6, Npcap / libpcap, psutil Hardware NIC Enumeration</a:t>
            </a:r>
          </a:p>
          <a:p>
            <a:pPr>
              <a:spcBef>
                <a:spcPts val="300"/>
              </a:spcBef>
              <a:defRPr sz="900">
                <a:solidFill>
                  <a:srgbClr val="475569"/>
                </a:solidFill>
                <a:latin typeface="Segoe UI"/>
              </a:defRPr>
            </a:pPr>
            <a:r>
              <a:t>Captures raw Ethernet frames in promiscuous mode across physical adapters and virtual switches. Ingests frames into ring buffers with microsecond hardware timestamping.</a:t>
            </a:r>
          </a:p>
        </p:txBody>
      </p:sp>
      <p:sp>
        <p:nvSpPr>
          <p:cNvPr id="9" name="Rounded Rectangle 8"/>
          <p:cNvSpPr/>
          <p:nvPr/>
        </p:nvSpPr>
        <p:spPr>
          <a:xfrm>
            <a:off x="685800" y="1536192"/>
            <a:ext cx="109728" cy="71323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2587752"/>
            <a:ext cx="11094415"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r>
              <a:rPr sz="1100" b="1">
                <a:solidFill>
                  <a:srgbClr val="0284C7"/>
                </a:solidFill>
                <a:latin typeface="Segoe UI"/>
              </a:rPr>
              <a:t>TIER 2: FORENSIC &amp; HEURISTIC ENGINE  |  </a:t>
            </a:r>
            <a:r>
              <a:rPr sz="950" b="1">
                <a:solidFill>
                  <a:srgbClr val="0F172A"/>
                </a:solidFill>
                <a:latin typeface="Segoe UI"/>
              </a:rPr>
              <a:t>RFC 1071 Checksum, Shannon Entropy H(X), TLS JA3/JA4, YARA Carving</a:t>
            </a:r>
          </a:p>
          <a:p>
            <a:pPr>
              <a:spcBef>
                <a:spcPts val="300"/>
              </a:spcBef>
              <a:defRPr sz="900">
                <a:solidFill>
                  <a:srgbClr val="475569"/>
                </a:solidFill>
                <a:latin typeface="Segoe UI"/>
              </a:defRPr>
            </a:pPr>
            <a:r>
              <a:t>Performs deep layer-by-layer bit dissection, calculates mathematical entropy (0-8 bits/byte), checks ClientHello hashes against Cobalt Strike signatures, and scans carved files.</a:t>
            </a:r>
          </a:p>
        </p:txBody>
      </p:sp>
      <p:sp>
        <p:nvSpPr>
          <p:cNvPr id="11" name="Rounded Rectangle 10"/>
          <p:cNvSpPr/>
          <p:nvPr/>
        </p:nvSpPr>
        <p:spPr>
          <a:xfrm>
            <a:off x="685800" y="2752344"/>
            <a:ext cx="109728" cy="71323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3803904"/>
            <a:ext cx="11094415"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r>
              <a:rPr sz="1100" b="1">
                <a:solidFill>
                  <a:srgbClr val="9333EA"/>
                </a:solidFill>
                <a:latin typeface="Segoe UI"/>
              </a:rPr>
              <a:t>TIER 3: ASYNCHRONOUS API &amp; WEBSOCKET CORE  |  </a:t>
            </a:r>
            <a:r>
              <a:rPr sz="950" b="1">
                <a:solidFill>
                  <a:srgbClr val="0F172A"/>
                </a:solidFill>
                <a:latin typeface="Segoe UI"/>
              </a:rPr>
              <a:t>FastAPI 0.115, Uvicorn ASGI, Starlette Async Multiplexer, Pydantic v2</a:t>
            </a:r>
          </a:p>
          <a:p>
            <a:pPr>
              <a:spcBef>
                <a:spcPts val="300"/>
              </a:spcBef>
              <a:defRPr sz="900">
                <a:solidFill>
                  <a:srgbClr val="475569"/>
                </a:solidFill>
                <a:latin typeface="Segoe UI"/>
              </a:defRPr>
            </a:pPr>
            <a:r>
              <a:t>Handles non-blocking REST endpoints (/api/live-capture/*), maintains bi-directional WebSocket feeds (/ws/telemetry), orchestrates STIX 2.1 bundles, and tracks 4-tuple TCP streams.</a:t>
            </a:r>
          </a:p>
        </p:txBody>
      </p:sp>
      <p:sp>
        <p:nvSpPr>
          <p:cNvPr id="13" name="Rounded Rectangle 12"/>
          <p:cNvSpPr/>
          <p:nvPr/>
        </p:nvSpPr>
        <p:spPr>
          <a:xfrm>
            <a:off x="685800" y="3968496"/>
            <a:ext cx="109728" cy="71323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5020056"/>
            <a:ext cx="11094415"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r>
              <a:rPr sz="1100" b="1">
                <a:solidFill>
                  <a:srgbClr val="10B981"/>
                </a:solidFill>
                <a:latin typeface="Segoe UI"/>
              </a:rPr>
              <a:t>TIER 4: VIRTUALIZED ANALYST WORKSTATION  |  </a:t>
            </a:r>
            <a:r>
              <a:rPr sz="950" b="1">
                <a:solidFill>
                  <a:srgbClr val="0F172A"/>
                </a:solidFill>
                <a:latin typeface="Segoe UI"/>
              </a:rPr>
              <a:t>React 19, TypeScript 5.8, @tanstack/react-virtual, Tailwind CSS</a:t>
            </a:r>
          </a:p>
          <a:p>
            <a:pPr>
              <a:spcBef>
                <a:spcPts val="300"/>
              </a:spcBef>
              <a:defRPr sz="900">
                <a:solidFill>
                  <a:srgbClr val="475569"/>
                </a:solidFill>
                <a:latin typeface="Segoe UI"/>
              </a:defRPr>
            </a:pPr>
            <a:r>
              <a:t>Renders 500,000+ packets at 60 FPS. Features 3-pane synchronized hex-to-tree dissection, real-time SVG sparklines, interactive UML sequence ladders, and AI copilot drawers.</a:t>
            </a:r>
          </a:p>
        </p:txBody>
      </p:sp>
      <p:sp>
        <p:nvSpPr>
          <p:cNvPr id="15" name="Rounded Rectangle 14"/>
          <p:cNvSpPr/>
          <p:nvPr/>
        </p:nvSpPr>
        <p:spPr>
          <a:xfrm>
            <a:off x="685800" y="5184648"/>
            <a:ext cx="109728" cy="71323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8961120" cy="219456"/>
          </a:xfrm>
          <a:prstGeom prst="rect">
            <a:avLst/>
          </a:prstGeom>
          <a:noFill/>
        </p:spPr>
        <p:txBody>
          <a:bodyPr wrap="square" lIns="0" tIns="0" rIns="0" bIns="0">
            <a:spAutoFit/>
          </a:bodyPr>
          <a:lstStyle/>
          <a:p>
            <a:pPr>
              <a:defRPr sz="950" b="1">
                <a:solidFill>
                  <a:srgbClr val="0284C7"/>
                </a:solidFill>
                <a:latin typeface="Segoe UI"/>
              </a:defRPr>
            </a:pPr>
            <a:r>
              <a:t>TECHNOLOGY STANDARDS</a:t>
            </a:r>
          </a:p>
        </p:txBody>
      </p:sp>
      <p:sp>
        <p:nvSpPr>
          <p:cNvPr id="3" name="TextBox 2"/>
          <p:cNvSpPr txBox="1"/>
          <p:nvPr/>
        </p:nvSpPr>
        <p:spPr>
          <a:xfrm>
            <a:off x="548640" y="585216"/>
            <a:ext cx="9601200" cy="402336"/>
          </a:xfrm>
          <a:prstGeom prst="rect">
            <a:avLst/>
          </a:prstGeom>
          <a:noFill/>
        </p:spPr>
        <p:txBody>
          <a:bodyPr wrap="square" lIns="0" tIns="0" rIns="0" bIns="0">
            <a:spAutoFit/>
          </a:bodyPr>
          <a:lstStyle/>
          <a:p>
            <a:pPr>
              <a:defRPr sz="2000" b="1">
                <a:solidFill>
                  <a:srgbClr val="0F172A"/>
                </a:solidFill>
                <a:latin typeface="Segoe UI"/>
              </a:defRPr>
            </a:pPr>
            <a:r>
              <a:t>Full-Stack Technology Stack &amp; Frameworks Specification</a:t>
            </a:r>
          </a:p>
        </p:txBody>
      </p:sp>
      <p:sp>
        <p:nvSpPr>
          <p:cNvPr id="4" name="TextBox 3"/>
          <p:cNvSpPr txBox="1"/>
          <p:nvPr/>
        </p:nvSpPr>
        <p:spPr>
          <a:xfrm>
            <a:off x="548640" y="1005840"/>
            <a:ext cx="9601200" cy="228600"/>
          </a:xfrm>
          <a:prstGeom prst="rect">
            <a:avLst/>
          </a:prstGeom>
          <a:noFill/>
        </p:spPr>
        <p:txBody>
          <a:bodyPr wrap="square" lIns="0" tIns="0" rIns="0" bIns="0">
            <a:spAutoFit/>
          </a:bodyPr>
          <a:lstStyle/>
          <a:p>
            <a:pPr>
              <a:defRPr sz="1050">
                <a:solidFill>
                  <a:srgbClr val="475569"/>
                </a:solidFill>
                <a:latin typeface="Segoe UI"/>
              </a:defRPr>
            </a:pPr>
            <a:r>
              <a:t>MNC-grade open-source and standard-compliant frameworks chosen for performance, safety, and scale</a:t>
            </a:r>
          </a:p>
        </p:txBody>
      </p:sp>
      <p:sp>
        <p:nvSpPr>
          <p:cNvPr id="5" name="Rounded Rectangle 4"/>
          <p:cNvSpPr/>
          <p:nvPr/>
        </p:nvSpPr>
        <p:spPr>
          <a:xfrm>
            <a:off x="10469880" y="420624"/>
            <a:ext cx="1170432" cy="2926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FFFFFF"/>
                </a:solidFill>
                <a:latin typeface="Segoe UI"/>
              </a:defRPr>
            </a:pPr>
            <a:r>
              <a:t>SLIDE 4 OF 11</a:t>
            </a:r>
          </a:p>
        </p:txBody>
      </p:sp>
      <p:sp>
        <p:nvSpPr>
          <p:cNvPr id="6" name="Rectangle 5"/>
          <p:cNvSpPr/>
          <p:nvPr/>
        </p:nvSpPr>
        <p:spPr>
          <a:xfrm>
            <a:off x="548640" y="6327648"/>
            <a:ext cx="1109441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82512"/>
            <a:ext cx="7772400" cy="219456"/>
          </a:xfrm>
          <a:prstGeom prst="rect">
            <a:avLst/>
          </a:prstGeom>
          <a:noFill/>
        </p:spPr>
        <p:txBody>
          <a:bodyPr wrap="none">
            <a:spAutoFit/>
          </a:bodyPr>
          <a:lstStyle/>
          <a:p>
            <a:pPr>
              <a:defRPr sz="800">
                <a:solidFill>
                  <a:srgbClr val="94A3B8"/>
                </a:solidFill>
                <a:latin typeface="Segoe UI"/>
              </a:defRPr>
            </a:pPr>
            <a:r>
              <a:t>CONFIDENTIAL | Sentinel Enterprise Platform (v2.0) Architecture &amp; Operations Guide | Internal Use Only</a:t>
            </a:r>
          </a:p>
        </p:txBody>
      </p:sp>
      <p:sp>
        <p:nvSpPr>
          <p:cNvPr id="8" name="Rounded Rectangle 7"/>
          <p:cNvSpPr/>
          <p:nvPr/>
        </p:nvSpPr>
        <p:spPr>
          <a:xfrm>
            <a:off x="548640" y="1371600"/>
            <a:ext cx="53949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F172A"/>
                </a:solidFill>
                <a:latin typeface="Segoe UI"/>
              </a:defRPr>
            </a:pPr>
            <a:br/>
            <a:br/>
            <a:r>
              <a:t>Modern Web &amp; Visualization Engines</a:t>
            </a:r>
          </a:p>
          <a:p>
            <a:pPr>
              <a:spcBef>
                <a:spcPts val="400"/>
              </a:spcBef>
            </a:pPr>
            <a:r>
              <a:rPr sz="900">
                <a:solidFill>
                  <a:srgbClr val="0F172A"/>
                </a:solidFill>
                <a:latin typeface="Segoe UI"/>
              </a:rPr>
              <a:t>• React 19.0.0: </a:t>
            </a:r>
            <a:r>
              <a:rPr sz="850">
                <a:solidFill>
                  <a:srgbClr val="475569"/>
                </a:solidFill>
                <a:latin typeface="Segoe UI"/>
              </a:rPr>
              <a:t>Core reactive component engine providing concurrent transitions and zero-lag state synchronization.</a:t>
            </a:r>
          </a:p>
          <a:p>
            <a:pPr>
              <a:spcBef>
                <a:spcPts val="400"/>
              </a:spcBef>
            </a:pPr>
            <a:r>
              <a:rPr sz="900">
                <a:solidFill>
                  <a:srgbClr val="0F172A"/>
                </a:solidFill>
                <a:latin typeface="Segoe UI"/>
              </a:rPr>
              <a:t>• TypeScript 5.8.2: </a:t>
            </a:r>
            <a:r>
              <a:rPr sz="850">
                <a:solidFill>
                  <a:srgbClr val="475569"/>
                </a:solidFill>
                <a:latin typeface="Segoe UI"/>
              </a:rPr>
              <a:t>Strict static type validation guaranteeing crash-proof parsing of nested network frames.</a:t>
            </a:r>
          </a:p>
          <a:p>
            <a:pPr>
              <a:spcBef>
                <a:spcPts val="400"/>
              </a:spcBef>
            </a:pPr>
            <a:r>
              <a:rPr sz="900">
                <a:solidFill>
                  <a:srgbClr val="0F172A"/>
                </a:solidFill>
                <a:latin typeface="Segoe UI"/>
              </a:rPr>
              <a:t>• Vite 6.4.3: </a:t>
            </a:r>
            <a:r>
              <a:rPr sz="850">
                <a:solidFill>
                  <a:srgbClr val="475569"/>
                </a:solidFill>
                <a:latin typeface="Segoe UI"/>
              </a:rPr>
              <a:t>Lightning build tool delivering instantaneous HMR and optimized production rollup chunks.</a:t>
            </a:r>
          </a:p>
          <a:p>
            <a:pPr>
              <a:spcBef>
                <a:spcPts val="400"/>
              </a:spcBef>
            </a:pPr>
            <a:r>
              <a:rPr sz="900">
                <a:solidFill>
                  <a:srgbClr val="0F172A"/>
                </a:solidFill>
                <a:latin typeface="Segoe UI"/>
              </a:rPr>
              <a:t>• @tanstack/react-virtual: </a:t>
            </a:r>
            <a:r>
              <a:rPr sz="850">
                <a:solidFill>
                  <a:srgbClr val="475569"/>
                </a:solidFill>
                <a:latin typeface="Segoe UI"/>
              </a:rPr>
              <a:t>Recycles DOM elements; enables continuous 60 FPS scrolling through 500,000+ packets.</a:t>
            </a:r>
          </a:p>
          <a:p>
            <a:pPr>
              <a:spcBef>
                <a:spcPts val="400"/>
              </a:spcBef>
            </a:pPr>
            <a:r>
              <a:rPr sz="900">
                <a:solidFill>
                  <a:srgbClr val="0F172A"/>
                </a:solidFill>
                <a:latin typeface="Segoe UI"/>
              </a:rPr>
              <a:t>• Tailwind CSS 4.0: </a:t>
            </a:r>
            <a:r>
              <a:rPr sz="850">
                <a:solidFill>
                  <a:srgbClr val="475569"/>
                </a:solidFill>
                <a:latin typeface="Segoe UI"/>
              </a:rPr>
              <a:t>Utility-first design framework with specialized cybersecurity dark-mode palettes.</a:t>
            </a:r>
          </a:p>
          <a:p>
            <a:pPr>
              <a:spcBef>
                <a:spcPts val="400"/>
              </a:spcBef>
            </a:pPr>
            <a:r>
              <a:rPr sz="900">
                <a:solidFill>
                  <a:srgbClr val="0F172A"/>
                </a:solidFill>
                <a:latin typeface="Segoe UI"/>
              </a:rPr>
              <a:t>• lucide-react: </a:t>
            </a:r>
            <a:r>
              <a:rPr sz="850">
                <a:solidFill>
                  <a:srgbClr val="475569"/>
                </a:solidFill>
                <a:latin typeface="Segoe UI"/>
              </a:rPr>
              <a:t>Crisp vector icons representing threat indicators, protocol layers, and forensic states.</a:t>
            </a:r>
          </a:p>
        </p:txBody>
      </p:sp>
      <p:sp>
        <p:nvSpPr>
          <p:cNvPr id="9" name="Rounded Rectangle 8"/>
          <p:cNvSpPr/>
          <p:nvPr/>
        </p:nvSpPr>
        <p:spPr>
          <a:xfrm>
            <a:off x="777240" y="1554480"/>
            <a:ext cx="256032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0284C7"/>
                </a:solidFill>
                <a:latin typeface="Segoe UI"/>
              </a:defRPr>
            </a:pPr>
            <a:r>
              <a:t>FRONTEND WORKSTATION STACK</a:t>
            </a:r>
          </a:p>
        </p:txBody>
      </p:sp>
      <p:sp>
        <p:nvSpPr>
          <p:cNvPr id="10" name="Rounded Rectangle 9"/>
          <p:cNvSpPr/>
          <p:nvPr/>
        </p:nvSpPr>
        <p:spPr>
          <a:xfrm>
            <a:off x="6248095" y="1371600"/>
            <a:ext cx="53949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F172A"/>
                </a:solidFill>
                <a:latin typeface="Segoe UI"/>
              </a:defRPr>
            </a:pPr>
            <a:br/>
            <a:br/>
            <a:r>
              <a:t>Asynchronous Core &amp; Security Tools</a:t>
            </a:r>
          </a:p>
          <a:p>
            <a:pPr>
              <a:spcBef>
                <a:spcPts val="400"/>
              </a:spcBef>
            </a:pPr>
            <a:r>
              <a:rPr sz="900">
                <a:solidFill>
                  <a:srgbClr val="0F172A"/>
                </a:solidFill>
                <a:latin typeface="Segoe UI"/>
              </a:rPr>
              <a:t>• Python 3.13 / 3.14: </a:t>
            </a:r>
            <a:r>
              <a:rPr sz="850">
                <a:solidFill>
                  <a:srgbClr val="475569"/>
                </a:solidFill>
                <a:latin typeface="Segoe UI"/>
              </a:rPr>
              <a:t>Modern high-speed runtime optimized for binary protocol parsing and asynchronous I/O.</a:t>
            </a:r>
          </a:p>
          <a:p>
            <a:pPr>
              <a:spcBef>
                <a:spcPts val="400"/>
              </a:spcBef>
            </a:pPr>
            <a:r>
              <a:rPr sz="900">
                <a:solidFill>
                  <a:srgbClr val="0F172A"/>
                </a:solidFill>
                <a:latin typeface="Segoe UI"/>
              </a:rPr>
              <a:t>• FastAPI 0.115.8: </a:t>
            </a:r>
            <a:r>
              <a:rPr sz="850">
                <a:solidFill>
                  <a:srgbClr val="475569"/>
                </a:solidFill>
                <a:latin typeface="Segoe UI"/>
              </a:rPr>
              <a:t>Asynchronous ASGI web framework with automatic OpenAPI documentation &amp; Pydantic v2 schemas.</a:t>
            </a:r>
          </a:p>
          <a:p>
            <a:pPr>
              <a:spcBef>
                <a:spcPts val="400"/>
              </a:spcBef>
            </a:pPr>
            <a:r>
              <a:rPr sz="900">
                <a:solidFill>
                  <a:srgbClr val="0F172A"/>
                </a:solidFill>
                <a:latin typeface="Segoe UI"/>
              </a:rPr>
              <a:t>• Scapy 2.6.1: </a:t>
            </a:r>
            <a:r>
              <a:rPr sz="850">
                <a:solidFill>
                  <a:srgbClr val="475569"/>
                </a:solidFill>
                <a:latin typeface="Segoe UI"/>
              </a:rPr>
              <a:t>Gold-standard packet manipulation engine for raw frame injection, sniffing, and header decoding.</a:t>
            </a:r>
          </a:p>
          <a:p>
            <a:pPr>
              <a:spcBef>
                <a:spcPts val="400"/>
              </a:spcBef>
            </a:pPr>
            <a:r>
              <a:rPr sz="900">
                <a:solidFill>
                  <a:srgbClr val="0F172A"/>
                </a:solidFill>
                <a:latin typeface="Segoe UI"/>
              </a:rPr>
              <a:t>• psutil 7.0.0: </a:t>
            </a:r>
            <a:r>
              <a:rPr sz="850">
                <a:solidFill>
                  <a:srgbClr val="475569"/>
                </a:solidFill>
                <a:latin typeface="Segoe UI"/>
              </a:rPr>
              <a:t>Cross-platform hardware subsystem access for live NIC discovery and network bandwidth telemetry.</a:t>
            </a:r>
          </a:p>
          <a:p>
            <a:pPr>
              <a:spcBef>
                <a:spcPts val="400"/>
              </a:spcBef>
            </a:pPr>
            <a:r>
              <a:rPr sz="900">
                <a:solidFill>
                  <a:srgbClr val="0F172A"/>
                </a:solidFill>
                <a:latin typeface="Segoe UI"/>
              </a:rPr>
              <a:t>• RFC 1071 Engine: </a:t>
            </a:r>
            <a:r>
              <a:rPr sz="850">
                <a:solidFill>
                  <a:srgbClr val="475569"/>
                </a:solidFill>
                <a:latin typeface="Segoe UI"/>
              </a:rPr>
              <a:t>Custom One's Complement 16-bit Internet Checksum verification and recalculation engine.</a:t>
            </a:r>
          </a:p>
          <a:p>
            <a:pPr>
              <a:spcBef>
                <a:spcPts val="400"/>
              </a:spcBef>
            </a:pPr>
            <a:r>
              <a:rPr sz="900">
                <a:solidFill>
                  <a:srgbClr val="0F172A"/>
                </a:solidFill>
                <a:latin typeface="Segoe UI"/>
              </a:rPr>
              <a:t>• OASIS STIX 2.1 &amp; MITRE: </a:t>
            </a:r>
            <a:r>
              <a:rPr sz="850">
                <a:solidFill>
                  <a:srgbClr val="475569"/>
                </a:solidFill>
                <a:latin typeface="Segoe UI"/>
              </a:rPr>
              <a:t>Cyber Threat Intelligence standardization (T1071.004, T1204) for enterprise SIEM ingestion.</a:t>
            </a:r>
          </a:p>
        </p:txBody>
      </p:sp>
      <p:sp>
        <p:nvSpPr>
          <p:cNvPr id="11" name="Rounded Rectangle 10"/>
          <p:cNvSpPr/>
          <p:nvPr/>
        </p:nvSpPr>
        <p:spPr>
          <a:xfrm>
            <a:off x="6476695" y="1554480"/>
            <a:ext cx="2560320" cy="274320"/>
          </a:xfrm>
          <a:prstGeom prst="round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9333EA"/>
                </a:solidFill>
                <a:latin typeface="Segoe UI"/>
              </a:defRPr>
            </a:pPr>
            <a:r>
              <a:t>BACKEND ENGINE &amp; FORENSICS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8961120" cy="219456"/>
          </a:xfrm>
          <a:prstGeom prst="rect">
            <a:avLst/>
          </a:prstGeom>
          <a:noFill/>
        </p:spPr>
        <p:txBody>
          <a:bodyPr wrap="square" lIns="0" tIns="0" rIns="0" bIns="0">
            <a:spAutoFit/>
          </a:bodyPr>
          <a:lstStyle/>
          <a:p>
            <a:pPr>
              <a:defRPr sz="950" b="1">
                <a:solidFill>
                  <a:srgbClr val="0284C7"/>
                </a:solidFill>
                <a:latin typeface="Segoe UI"/>
              </a:defRPr>
            </a:pPr>
            <a:r>
              <a:t>FORENSIC CAPABILITIES</a:t>
            </a:r>
          </a:p>
        </p:txBody>
      </p:sp>
      <p:sp>
        <p:nvSpPr>
          <p:cNvPr id="3" name="TextBox 2"/>
          <p:cNvSpPr txBox="1"/>
          <p:nvPr/>
        </p:nvSpPr>
        <p:spPr>
          <a:xfrm>
            <a:off x="548640" y="585216"/>
            <a:ext cx="9601200" cy="402336"/>
          </a:xfrm>
          <a:prstGeom prst="rect">
            <a:avLst/>
          </a:prstGeom>
          <a:noFill/>
        </p:spPr>
        <p:txBody>
          <a:bodyPr wrap="square" lIns="0" tIns="0" rIns="0" bIns="0">
            <a:spAutoFit/>
          </a:bodyPr>
          <a:lstStyle/>
          <a:p>
            <a:pPr>
              <a:defRPr sz="2000" b="1">
                <a:solidFill>
                  <a:srgbClr val="0F172A"/>
                </a:solidFill>
                <a:latin typeface="Segoe UI"/>
              </a:defRPr>
            </a:pPr>
            <a:r>
              <a:t>Wireshark-Grade Deep Packet Inspection &amp; 3-Pane Dissection</a:t>
            </a:r>
          </a:p>
        </p:txBody>
      </p:sp>
      <p:sp>
        <p:nvSpPr>
          <p:cNvPr id="4" name="TextBox 3"/>
          <p:cNvSpPr txBox="1"/>
          <p:nvPr/>
        </p:nvSpPr>
        <p:spPr>
          <a:xfrm>
            <a:off x="548640" y="1005840"/>
            <a:ext cx="9601200" cy="228600"/>
          </a:xfrm>
          <a:prstGeom prst="rect">
            <a:avLst/>
          </a:prstGeom>
          <a:noFill/>
        </p:spPr>
        <p:txBody>
          <a:bodyPr wrap="square" lIns="0" tIns="0" rIns="0" bIns="0">
            <a:spAutoFit/>
          </a:bodyPr>
          <a:lstStyle/>
          <a:p>
            <a:pPr>
              <a:defRPr sz="1050">
                <a:solidFill>
                  <a:srgbClr val="475569"/>
                </a:solidFill>
                <a:latin typeface="Segoe UI"/>
              </a:defRPr>
            </a:pPr>
            <a:r>
              <a:t>Microsecond-accurate packet navigation, protocol tree parsing, and synchronized hex mapping</a:t>
            </a:r>
          </a:p>
        </p:txBody>
      </p:sp>
      <p:sp>
        <p:nvSpPr>
          <p:cNvPr id="5" name="Rounded Rectangle 4"/>
          <p:cNvSpPr/>
          <p:nvPr/>
        </p:nvSpPr>
        <p:spPr>
          <a:xfrm>
            <a:off x="10469880" y="420624"/>
            <a:ext cx="1170432" cy="2926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FFFFFF"/>
                </a:solidFill>
                <a:latin typeface="Segoe UI"/>
              </a:defRPr>
            </a:pPr>
            <a:r>
              <a:t>SLIDE 5 OF 11</a:t>
            </a:r>
          </a:p>
        </p:txBody>
      </p:sp>
      <p:sp>
        <p:nvSpPr>
          <p:cNvPr id="6" name="Rectangle 5"/>
          <p:cNvSpPr/>
          <p:nvPr/>
        </p:nvSpPr>
        <p:spPr>
          <a:xfrm>
            <a:off x="548640" y="6327648"/>
            <a:ext cx="1109441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82512"/>
            <a:ext cx="7772400" cy="219456"/>
          </a:xfrm>
          <a:prstGeom prst="rect">
            <a:avLst/>
          </a:prstGeom>
          <a:noFill/>
        </p:spPr>
        <p:txBody>
          <a:bodyPr wrap="none">
            <a:spAutoFit/>
          </a:bodyPr>
          <a:lstStyle/>
          <a:p>
            <a:pPr>
              <a:defRPr sz="800">
                <a:solidFill>
                  <a:srgbClr val="94A3B8"/>
                </a:solidFill>
                <a:latin typeface="Segoe UI"/>
              </a:defRPr>
            </a:pPr>
            <a:r>
              <a:t>CONFIDENTIAL | Sentinel Enterprise Platform (v2.0) Architecture &amp; Operations Guide | Internal Use Only</a:t>
            </a:r>
          </a:p>
        </p:txBody>
      </p:sp>
      <p:sp>
        <p:nvSpPr>
          <p:cNvPr id="8" name="Rounded Rectangle 7"/>
          <p:cNvSpPr/>
          <p:nvPr/>
        </p:nvSpPr>
        <p:spPr>
          <a:xfrm>
            <a:off x="54864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82880"/>
          <a:lstStyle/>
          <a:p>
            <a:pPr algn="ctr">
              <a:defRPr sz="1300" b="1">
                <a:solidFill>
                  <a:srgbClr val="0F172A"/>
                </a:solidFill>
                <a:latin typeface="Segoe UI"/>
              </a:defRPr>
            </a:pPr>
            <a:br/>
            <a:br/>
            <a:r>
              <a:t>High-Throughput Packet Grid</a:t>
            </a:r>
          </a:p>
          <a:p>
            <a:pPr>
              <a:spcBef>
                <a:spcPts val="600"/>
              </a:spcBef>
              <a:defRPr sz="900">
                <a:solidFill>
                  <a:srgbClr val="475569"/>
                </a:solidFill>
                <a:latin typeface="Segoe UI"/>
              </a:defRPr>
            </a:pPr>
            <a:r>
              <a:t>• Displays frame sequence numbers, timestamps, source/destination IPs, protocol type, and summary flags.</a:t>
            </a:r>
          </a:p>
          <a:p>
            <a:pPr>
              <a:spcBef>
                <a:spcPts val="600"/>
              </a:spcBef>
              <a:defRPr sz="900">
                <a:solidFill>
                  <a:srgbClr val="475569"/>
                </a:solidFill>
                <a:latin typeface="Segoe UI"/>
              </a:defRPr>
            </a:pPr>
            <a:r>
              <a:t>• Powered by @tanstack/react-virtual: DOM recycling maintains 60 FPS across 500,000+ packets.</a:t>
            </a:r>
          </a:p>
          <a:p>
            <a:pPr>
              <a:spcBef>
                <a:spcPts val="600"/>
              </a:spcBef>
              <a:defRPr sz="900">
                <a:solidFill>
                  <a:srgbClr val="475569"/>
                </a:solidFill>
                <a:latin typeface="Segoe UI"/>
              </a:defRPr>
            </a:pPr>
            <a:r>
              <a:t>• BPF Query Engine: Real-time filtering by expressions (e.g. ip.src == 192.168.1.45, proto == tlsv1.3).</a:t>
            </a:r>
          </a:p>
          <a:p>
            <a:pPr>
              <a:spcBef>
                <a:spcPts val="600"/>
              </a:spcBef>
              <a:defRPr sz="900">
                <a:solidFill>
                  <a:srgbClr val="475569"/>
                </a:solidFill>
                <a:latin typeface="Segoe UI"/>
              </a:defRPr>
            </a:pPr>
            <a:r>
              <a:t>• Visual Threat Badges: Immediately flags high-entropy payloads and suspicious protocol anomalies.</a:t>
            </a:r>
          </a:p>
        </p:txBody>
      </p:sp>
      <p:sp>
        <p:nvSpPr>
          <p:cNvPr id="9" name="Rounded Rectangle 8"/>
          <p:cNvSpPr/>
          <p:nvPr/>
        </p:nvSpPr>
        <p:spPr>
          <a:xfrm>
            <a:off x="749808" y="1554480"/>
            <a:ext cx="256032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0284C7"/>
                </a:solidFill>
                <a:latin typeface="Segoe UI"/>
              </a:defRPr>
            </a:pPr>
            <a:r>
              <a:t>PANE 1: VIRTUAL PACKET LIST</a:t>
            </a:r>
          </a:p>
        </p:txBody>
      </p:sp>
      <p:sp>
        <p:nvSpPr>
          <p:cNvPr id="10" name="Rounded Rectangle 9"/>
          <p:cNvSpPr/>
          <p:nvPr/>
        </p:nvSpPr>
        <p:spPr>
          <a:xfrm>
            <a:off x="434340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82880"/>
          <a:lstStyle/>
          <a:p>
            <a:pPr algn="ctr">
              <a:defRPr sz="1300" b="1">
                <a:solidFill>
                  <a:srgbClr val="0F172A"/>
                </a:solidFill>
                <a:latin typeface="Segoe UI"/>
              </a:defRPr>
            </a:pPr>
            <a:br/>
            <a:br/>
            <a:r>
              <a:t>Hierarchical Layer Inspector</a:t>
            </a:r>
          </a:p>
          <a:p>
            <a:pPr>
              <a:spcBef>
                <a:spcPts val="600"/>
              </a:spcBef>
              <a:defRPr sz="900">
                <a:solidFill>
                  <a:srgbClr val="475569"/>
                </a:solidFill>
                <a:latin typeface="Segoe UI"/>
              </a:defRPr>
            </a:pPr>
            <a:r>
              <a:t>• Decodes every encapsulation layer: Ethernet II, IPv4, TCP/UDP, TLS, DNS, and HTTP.</a:t>
            </a:r>
          </a:p>
          <a:p>
            <a:pPr>
              <a:spcBef>
                <a:spcPts val="600"/>
              </a:spcBef>
              <a:defRPr sz="900">
                <a:solidFill>
                  <a:srgbClr val="475569"/>
                </a:solidFill>
                <a:latin typeface="Segoe UI"/>
              </a:defRPr>
            </a:pPr>
            <a:r>
              <a:t>• Deep field inspection: Window sizes, sequence numbers, TCP control flags, and cipher suites.</a:t>
            </a:r>
          </a:p>
          <a:p>
            <a:pPr>
              <a:spcBef>
                <a:spcPts val="600"/>
              </a:spcBef>
              <a:defRPr sz="900">
                <a:solidFill>
                  <a:srgbClr val="475569"/>
                </a:solidFill>
                <a:latin typeface="Segoe UI"/>
              </a:defRPr>
            </a:pPr>
            <a:r>
              <a:t>• Synchronized Hover Mapping: Moving the mouse over any layer or field dynamically illuminates Pane 3.</a:t>
            </a:r>
          </a:p>
          <a:p>
            <a:pPr>
              <a:spcBef>
                <a:spcPts val="600"/>
              </a:spcBef>
              <a:defRPr sz="900">
                <a:solidFill>
                  <a:srgbClr val="475569"/>
                </a:solidFill>
                <a:latin typeface="Segoe UI"/>
              </a:defRPr>
            </a:pPr>
            <a:r>
              <a:t>• Active Offset Breadcrumbs: Displays real-time inspection position (e.g. IPv4 Source Bytes 26-30).</a:t>
            </a:r>
          </a:p>
        </p:txBody>
      </p:sp>
      <p:sp>
        <p:nvSpPr>
          <p:cNvPr id="11" name="Rounded Rectangle 10"/>
          <p:cNvSpPr/>
          <p:nvPr/>
        </p:nvSpPr>
        <p:spPr>
          <a:xfrm>
            <a:off x="4544568" y="1554480"/>
            <a:ext cx="256032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9333EA"/>
                </a:solidFill>
                <a:latin typeface="Segoe UI"/>
              </a:defRPr>
            </a:pPr>
            <a:r>
              <a:t>PANE 2: PROTOCOL TREE DISSECTOR</a:t>
            </a:r>
          </a:p>
        </p:txBody>
      </p:sp>
      <p:sp>
        <p:nvSpPr>
          <p:cNvPr id="12" name="Rounded Rectangle 11"/>
          <p:cNvSpPr/>
          <p:nvPr/>
        </p:nvSpPr>
        <p:spPr>
          <a:xfrm>
            <a:off x="813816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82880"/>
          <a:lstStyle/>
          <a:p>
            <a:pPr algn="ctr">
              <a:defRPr sz="1300" b="1">
                <a:solidFill>
                  <a:srgbClr val="0F172A"/>
                </a:solidFill>
                <a:latin typeface="Segoe UI"/>
              </a:defRPr>
            </a:pPr>
            <a:br/>
            <a:br/>
            <a:r>
              <a:t>Microsecond Byte Dissector</a:t>
            </a:r>
          </a:p>
          <a:p>
            <a:pPr>
              <a:spcBef>
                <a:spcPts val="600"/>
              </a:spcBef>
              <a:defRPr sz="900">
                <a:solidFill>
                  <a:srgbClr val="475569"/>
                </a:solidFill>
                <a:latin typeface="Segoe UI"/>
              </a:defRPr>
            </a:pPr>
            <a:r>
              <a:t>• Displays raw frame bytes formatted in 16-byte offset rows with dual Hex and ASCII character views.</a:t>
            </a:r>
          </a:p>
          <a:p>
            <a:pPr>
              <a:spcBef>
                <a:spcPts val="600"/>
              </a:spcBef>
              <a:defRPr sz="900">
                <a:solidFill>
                  <a:srgbClr val="475569"/>
                </a:solidFill>
                <a:latin typeface="Segoe UI"/>
              </a:defRPr>
            </a:pPr>
            <a:r>
              <a:t>• High-Contrast Illumination: Highlighted ranges glow in vibrant cyan (bg-cyan-400 font-extrabold).</a:t>
            </a:r>
          </a:p>
          <a:p>
            <a:pPr>
              <a:spcBef>
                <a:spcPts val="600"/>
              </a:spcBef>
              <a:defRPr sz="900">
                <a:solidFill>
                  <a:srgbClr val="475569"/>
                </a:solidFill>
                <a:latin typeface="Segoe UI"/>
              </a:defRPr>
            </a:pPr>
            <a:r>
              <a:t>• Follows selection automatically when an analyst navigates through protocol tree headers.</a:t>
            </a:r>
          </a:p>
          <a:p>
            <a:pPr>
              <a:spcBef>
                <a:spcPts val="600"/>
              </a:spcBef>
              <a:defRPr sz="900">
                <a:solidFill>
                  <a:srgbClr val="475569"/>
                </a:solidFill>
                <a:latin typeface="Segoe UI"/>
              </a:defRPr>
            </a:pPr>
            <a:r>
              <a:t>• 1-Click Byte Copying: Allows analysts to export raw byte chunks directly into Ghidra or CyberChef.</a:t>
            </a:r>
          </a:p>
        </p:txBody>
      </p:sp>
      <p:sp>
        <p:nvSpPr>
          <p:cNvPr id="13" name="Rounded Rectangle 12"/>
          <p:cNvSpPr/>
          <p:nvPr/>
        </p:nvSpPr>
        <p:spPr>
          <a:xfrm>
            <a:off x="8339328" y="1554480"/>
            <a:ext cx="256032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0EA5E9"/>
                </a:solidFill>
                <a:latin typeface="Segoe UI"/>
              </a:defRPr>
            </a:pPr>
            <a:r>
              <a:t>PANE 3: SYNCHRONIZED HEX VIEWER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8961120" cy="219456"/>
          </a:xfrm>
          <a:prstGeom prst="rect">
            <a:avLst/>
          </a:prstGeom>
          <a:noFill/>
        </p:spPr>
        <p:txBody>
          <a:bodyPr wrap="square" lIns="0" tIns="0" rIns="0" bIns="0">
            <a:spAutoFit/>
          </a:bodyPr>
          <a:lstStyle/>
          <a:p>
            <a:pPr>
              <a:defRPr sz="950" b="1">
                <a:solidFill>
                  <a:srgbClr val="0284C7"/>
                </a:solidFill>
                <a:latin typeface="Segoe UI"/>
              </a:defRPr>
            </a:pPr>
            <a:r>
              <a:t>DEEP FORENSICS</a:t>
            </a:r>
          </a:p>
        </p:txBody>
      </p:sp>
      <p:sp>
        <p:nvSpPr>
          <p:cNvPr id="3" name="TextBox 2"/>
          <p:cNvSpPr txBox="1"/>
          <p:nvPr/>
        </p:nvSpPr>
        <p:spPr>
          <a:xfrm>
            <a:off x="548640" y="585216"/>
            <a:ext cx="9601200" cy="402336"/>
          </a:xfrm>
          <a:prstGeom prst="rect">
            <a:avLst/>
          </a:prstGeom>
          <a:noFill/>
        </p:spPr>
        <p:txBody>
          <a:bodyPr wrap="square" lIns="0" tIns="0" rIns="0" bIns="0">
            <a:spAutoFit/>
          </a:bodyPr>
          <a:lstStyle/>
          <a:p>
            <a:pPr>
              <a:defRPr sz="2000" b="1">
                <a:solidFill>
                  <a:srgbClr val="0F172A"/>
                </a:solidFill>
                <a:latin typeface="Segoe UI"/>
              </a:defRPr>
            </a:pPr>
            <a:r>
              <a:t>Conversation Reassembly &amp; Cryptographic Threat Detection</a:t>
            </a:r>
          </a:p>
        </p:txBody>
      </p:sp>
      <p:sp>
        <p:nvSpPr>
          <p:cNvPr id="4" name="TextBox 3"/>
          <p:cNvSpPr txBox="1"/>
          <p:nvPr/>
        </p:nvSpPr>
        <p:spPr>
          <a:xfrm>
            <a:off x="548640" y="1005840"/>
            <a:ext cx="9601200" cy="228600"/>
          </a:xfrm>
          <a:prstGeom prst="rect">
            <a:avLst/>
          </a:prstGeom>
          <a:noFill/>
        </p:spPr>
        <p:txBody>
          <a:bodyPr wrap="square" lIns="0" tIns="0" rIns="0" bIns="0">
            <a:spAutoFit/>
          </a:bodyPr>
          <a:lstStyle/>
          <a:p>
            <a:pPr>
              <a:defRPr sz="1050">
                <a:solidFill>
                  <a:srgbClr val="475569"/>
                </a:solidFill>
                <a:latin typeface="Segoe UI"/>
              </a:defRPr>
            </a:pPr>
            <a:r>
              <a:t>Wireshark-grade Follow TCP Stream, Shannon entropy exfiltration meter, and TLS JA3/JA4 fingerprinting</a:t>
            </a:r>
          </a:p>
        </p:txBody>
      </p:sp>
      <p:sp>
        <p:nvSpPr>
          <p:cNvPr id="5" name="Rounded Rectangle 4"/>
          <p:cNvSpPr/>
          <p:nvPr/>
        </p:nvSpPr>
        <p:spPr>
          <a:xfrm>
            <a:off x="10469880" y="420624"/>
            <a:ext cx="1170432" cy="2926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FFFFFF"/>
                </a:solidFill>
                <a:latin typeface="Segoe UI"/>
              </a:defRPr>
            </a:pPr>
            <a:r>
              <a:t>SLIDE 6 OF 11</a:t>
            </a:r>
          </a:p>
        </p:txBody>
      </p:sp>
      <p:sp>
        <p:nvSpPr>
          <p:cNvPr id="6" name="Rectangle 5"/>
          <p:cNvSpPr/>
          <p:nvPr/>
        </p:nvSpPr>
        <p:spPr>
          <a:xfrm>
            <a:off x="548640" y="6327648"/>
            <a:ext cx="1109441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82512"/>
            <a:ext cx="7772400" cy="219456"/>
          </a:xfrm>
          <a:prstGeom prst="rect">
            <a:avLst/>
          </a:prstGeom>
          <a:noFill/>
        </p:spPr>
        <p:txBody>
          <a:bodyPr wrap="none">
            <a:spAutoFit/>
          </a:bodyPr>
          <a:lstStyle/>
          <a:p>
            <a:pPr>
              <a:defRPr sz="800">
                <a:solidFill>
                  <a:srgbClr val="94A3B8"/>
                </a:solidFill>
                <a:latin typeface="Segoe UI"/>
              </a:defRPr>
            </a:pPr>
            <a:r>
              <a:t>CONFIDENTIAL | Sentinel Enterprise Platform (v2.0) Architecture &amp; Operations Guide | Internal Use Only</a:t>
            </a:r>
          </a:p>
        </p:txBody>
      </p:sp>
      <p:sp>
        <p:nvSpPr>
          <p:cNvPr id="8" name="Rounded Rectangle 7"/>
          <p:cNvSpPr/>
          <p:nvPr/>
        </p:nvSpPr>
        <p:spPr>
          <a:xfrm>
            <a:off x="548640" y="1371600"/>
            <a:ext cx="53949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F172A"/>
                </a:solidFill>
                <a:latin typeface="Segoe UI"/>
              </a:defRPr>
            </a:pPr>
            <a:br/>
            <a:br/>
            <a:r>
              <a:t>Wireshark-Style Dialogue Reassembly</a:t>
            </a:r>
          </a:p>
          <a:p>
            <a:pPr>
              <a:spcBef>
                <a:spcPts val="500"/>
              </a:spcBef>
              <a:defRPr sz="900">
                <a:solidFill>
                  <a:srgbClr val="475569"/>
                </a:solidFill>
                <a:latin typeface="Segoe UI"/>
              </a:defRPr>
            </a:pPr>
            <a:r>
              <a:t>• 4-Tuple Stream Tracking: Reassembles complete conversation dialogues using IP and Port tuples.</a:t>
            </a:r>
          </a:p>
          <a:p>
            <a:pPr>
              <a:spcBef>
                <a:spcPts val="500"/>
              </a:spcBef>
              <a:defRPr sz="900">
                <a:solidFill>
                  <a:srgbClr val="475569"/>
                </a:solidFill>
                <a:latin typeface="Segoe UI"/>
              </a:defRPr>
            </a:pPr>
            <a:r>
              <a:t>• Color-Coded Turns: Client requests rendered in Salmon/Red; Server responses in Sky Blue.</a:t>
            </a:r>
          </a:p>
          <a:p>
            <a:pPr>
              <a:spcBef>
                <a:spcPts val="500"/>
              </a:spcBef>
              <a:defRPr sz="900">
                <a:solidFill>
                  <a:srgbClr val="475569"/>
                </a:solidFill>
                <a:latin typeface="Segoe UI"/>
              </a:defRPr>
            </a:pPr>
            <a:r>
              <a:t>• Multi-Mode Views: Instant toggle between ASCII text, space-delimited Hex Dissector, and Base64 Raw Stream.</a:t>
            </a:r>
          </a:p>
          <a:p>
            <a:pPr>
              <a:spcBef>
                <a:spcPts val="500"/>
              </a:spcBef>
              <a:defRPr sz="900">
                <a:solidFill>
                  <a:srgbClr val="475569"/>
                </a:solidFill>
                <a:latin typeface="Segoe UI"/>
              </a:defRPr>
            </a:pPr>
            <a:r>
              <a:t>• Stream Telemetry: Tracks total message turns, exchanged byte volume, and client/server IP endpoints.</a:t>
            </a:r>
          </a:p>
          <a:p>
            <a:pPr>
              <a:spcBef>
                <a:spcPts val="500"/>
              </a:spcBef>
              <a:defRPr sz="900">
                <a:solidFill>
                  <a:srgbClr val="475569"/>
                </a:solidFill>
                <a:latin typeface="Segoe UI"/>
              </a:defRPr>
            </a:pPr>
            <a:r>
              <a:t>• 1-Click Clipboard Export: Copies clean reconstructed conversation transcripts for incident reports.</a:t>
            </a:r>
          </a:p>
        </p:txBody>
      </p:sp>
      <p:sp>
        <p:nvSpPr>
          <p:cNvPr id="9" name="Rounded Rectangle 8"/>
          <p:cNvSpPr/>
          <p:nvPr/>
        </p:nvSpPr>
        <p:spPr>
          <a:xfrm>
            <a:off x="777240" y="1554480"/>
            <a:ext cx="2926080" cy="27432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DC2626"/>
                </a:solidFill>
                <a:latin typeface="Segoe UI"/>
              </a:defRPr>
            </a:pPr>
            <a:r>
              <a:t>STREAM REASSEMBLY (FOLLOW STREAM)</a:t>
            </a:r>
          </a:p>
        </p:txBody>
      </p:sp>
      <p:sp>
        <p:nvSpPr>
          <p:cNvPr id="10" name="Rounded Rectangle 9"/>
          <p:cNvSpPr/>
          <p:nvPr/>
        </p:nvSpPr>
        <p:spPr>
          <a:xfrm>
            <a:off x="6248095" y="1371600"/>
            <a:ext cx="53949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F172A"/>
                </a:solidFill>
                <a:latin typeface="Segoe UI"/>
              </a:defRPr>
            </a:pPr>
            <a:br/>
            <a:br/>
            <a:r>
              <a:t>Algorithmic Threat Identification</a:t>
            </a:r>
          </a:p>
          <a:p>
            <a:pPr>
              <a:spcBef>
                <a:spcPts val="500"/>
              </a:spcBef>
              <a:defRPr sz="900">
                <a:solidFill>
                  <a:srgbClr val="475569"/>
                </a:solidFill>
                <a:latin typeface="Segoe UI"/>
              </a:defRPr>
            </a:pPr>
            <a:r>
              <a:t>• Shannon Entropy Gauge: Computes H(X) = -sum(p_i * log2(p_i)) from 0.0 to 8.0 bits/byte. Differentiates plaintext (&lt;4.5), compressed binary (4.5-6.8), and encrypted C2 exfiltration (&gt;7.2).</a:t>
            </a:r>
          </a:p>
          <a:p>
            <a:pPr>
              <a:spcBef>
                <a:spcPts val="500"/>
              </a:spcBef>
              <a:defRPr sz="900">
                <a:solidFill>
                  <a:srgbClr val="475569"/>
                </a:solidFill>
                <a:latin typeface="Segoe UI"/>
              </a:defRPr>
            </a:pPr>
            <a:r>
              <a:t>• TLS JA3 &amp; JA4 Fingerprinting: Extracts ClientHello cipher suites, extensions, and curves. Attributes known malicious beacons (e.g. Cobalt Strike Malleable C2).</a:t>
            </a:r>
          </a:p>
          <a:p>
            <a:pPr>
              <a:spcBef>
                <a:spcPts val="500"/>
              </a:spcBef>
              <a:defRPr sz="900">
                <a:solidFill>
                  <a:srgbClr val="475569"/>
                </a:solidFill>
                <a:latin typeface="Segoe UI"/>
              </a:defRPr>
            </a:pPr>
            <a:r>
              <a:t>• YARA &amp; Heuristic File Carving: Inspects carved network files for disguised PE binaries (MZ/PE00 headers - MITRE T1204) and PDF JavaScript triggers (/JavaScript - CVE-2023-26369).</a:t>
            </a:r>
          </a:p>
        </p:txBody>
      </p:sp>
      <p:sp>
        <p:nvSpPr>
          <p:cNvPr id="11" name="Rounded Rectangle 10"/>
          <p:cNvSpPr/>
          <p:nvPr/>
        </p:nvSpPr>
        <p:spPr>
          <a:xfrm>
            <a:off x="6476695" y="1554480"/>
            <a:ext cx="292608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10B981"/>
                </a:solidFill>
                <a:latin typeface="Segoe UI"/>
              </a:defRPr>
            </a:pPr>
            <a:r>
              <a:t>CRYPTOGRAPHIC &amp; HEURISTIC DETECTORS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8961120" cy="219456"/>
          </a:xfrm>
          <a:prstGeom prst="rect">
            <a:avLst/>
          </a:prstGeom>
          <a:noFill/>
        </p:spPr>
        <p:txBody>
          <a:bodyPr wrap="square" lIns="0" tIns="0" rIns="0" bIns="0">
            <a:spAutoFit/>
          </a:bodyPr>
          <a:lstStyle/>
          <a:p>
            <a:pPr>
              <a:defRPr sz="950" b="1">
                <a:solidFill>
                  <a:srgbClr val="0284C7"/>
                </a:solidFill>
                <a:latin typeface="Segoe UI"/>
              </a:defRPr>
            </a:pPr>
            <a:r>
              <a:t>ENTERPRISE FEATURES</a:t>
            </a:r>
          </a:p>
        </p:txBody>
      </p:sp>
      <p:sp>
        <p:nvSpPr>
          <p:cNvPr id="3" name="TextBox 2"/>
          <p:cNvSpPr txBox="1"/>
          <p:nvPr/>
        </p:nvSpPr>
        <p:spPr>
          <a:xfrm>
            <a:off x="548640" y="585216"/>
            <a:ext cx="9601200" cy="402336"/>
          </a:xfrm>
          <a:prstGeom prst="rect">
            <a:avLst/>
          </a:prstGeom>
          <a:noFill/>
        </p:spPr>
        <p:txBody>
          <a:bodyPr wrap="square" lIns="0" tIns="0" rIns="0" bIns="0">
            <a:spAutoFit/>
          </a:bodyPr>
          <a:lstStyle/>
          <a:p>
            <a:pPr>
              <a:defRPr sz="2000" b="1">
                <a:solidFill>
                  <a:srgbClr val="0F172A"/>
                </a:solidFill>
                <a:latin typeface="Segoe UI"/>
              </a:defRPr>
            </a:pPr>
            <a:r>
              <a:t>The 7 MNC-Grade Capabilities (Features 1 to 4)</a:t>
            </a:r>
          </a:p>
        </p:txBody>
      </p:sp>
      <p:sp>
        <p:nvSpPr>
          <p:cNvPr id="4" name="TextBox 3"/>
          <p:cNvSpPr txBox="1"/>
          <p:nvPr/>
        </p:nvSpPr>
        <p:spPr>
          <a:xfrm>
            <a:off x="548640" y="1005840"/>
            <a:ext cx="9601200" cy="228600"/>
          </a:xfrm>
          <a:prstGeom prst="rect">
            <a:avLst/>
          </a:prstGeom>
          <a:noFill/>
        </p:spPr>
        <p:txBody>
          <a:bodyPr wrap="square" lIns="0" tIns="0" rIns="0" bIns="0">
            <a:spAutoFit/>
          </a:bodyPr>
          <a:lstStyle/>
          <a:p>
            <a:pPr>
              <a:defRPr sz="1050">
                <a:solidFill>
                  <a:srgbClr val="475569"/>
                </a:solidFill>
                <a:latin typeface="Segoe UI"/>
              </a:defRPr>
            </a:pPr>
            <a:r>
              <a:t>Advanced threat hunting, real-time telemetry, and active packet injection features</a:t>
            </a:r>
          </a:p>
        </p:txBody>
      </p:sp>
      <p:sp>
        <p:nvSpPr>
          <p:cNvPr id="5" name="Rounded Rectangle 4"/>
          <p:cNvSpPr/>
          <p:nvPr/>
        </p:nvSpPr>
        <p:spPr>
          <a:xfrm>
            <a:off x="10469880" y="420624"/>
            <a:ext cx="1170432" cy="2926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FFFFFF"/>
                </a:solidFill>
                <a:latin typeface="Segoe UI"/>
              </a:defRPr>
            </a:pPr>
            <a:r>
              <a:t>SLIDE 7 OF 11</a:t>
            </a:r>
          </a:p>
        </p:txBody>
      </p:sp>
      <p:sp>
        <p:nvSpPr>
          <p:cNvPr id="6" name="Rectangle 5"/>
          <p:cNvSpPr/>
          <p:nvPr/>
        </p:nvSpPr>
        <p:spPr>
          <a:xfrm>
            <a:off x="548640" y="6327648"/>
            <a:ext cx="1109441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82512"/>
            <a:ext cx="7772400" cy="219456"/>
          </a:xfrm>
          <a:prstGeom prst="rect">
            <a:avLst/>
          </a:prstGeom>
          <a:noFill/>
        </p:spPr>
        <p:txBody>
          <a:bodyPr wrap="none">
            <a:spAutoFit/>
          </a:bodyPr>
          <a:lstStyle/>
          <a:p>
            <a:pPr>
              <a:defRPr sz="800">
                <a:solidFill>
                  <a:srgbClr val="94A3B8"/>
                </a:solidFill>
                <a:latin typeface="Segoe UI"/>
              </a:defRPr>
            </a:pPr>
            <a:r>
              <a:t>CONFIDENTIAL | Sentinel Enterprise Platform (v2.0) Architecture &amp; Operations Guide | Internal Use Only</a:t>
            </a:r>
          </a:p>
        </p:txBody>
      </p:sp>
      <p:sp>
        <p:nvSpPr>
          <p:cNvPr id="8" name="Rounded Rectangle 7"/>
          <p:cNvSpPr/>
          <p:nvPr/>
        </p:nvSpPr>
        <p:spPr>
          <a:xfrm>
            <a:off x="548640" y="1371600"/>
            <a:ext cx="539496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64592"/>
          <a:lstStyle/>
          <a:p>
            <a:pPr algn="ctr">
              <a:spcBef>
                <a:spcPts val="400"/>
              </a:spcBef>
              <a:defRPr sz="950">
                <a:solidFill>
                  <a:srgbClr val="475569"/>
                </a:solidFill>
                <a:latin typeface="Segoe UI"/>
              </a:defRPr>
            </a:pPr>
            <a:br/>
            <a:br/>
            <a:r>
              <a:t>Continuous vector SVG sparkline in the header toolbar tracking rolling Packets-Per-Second (PPS) and bandwidth (KB/s). Features smooth Cyan-to-Purple gradient fills, peak indicators, and live adapter pulse dots.</a:t>
            </a:r>
          </a:p>
        </p:txBody>
      </p:sp>
      <p:sp>
        <p:nvSpPr>
          <p:cNvPr id="9" name="Rounded Rectangle 8"/>
          <p:cNvSpPr/>
          <p:nvPr/>
        </p:nvSpPr>
        <p:spPr>
          <a:xfrm>
            <a:off x="749808" y="1536192"/>
            <a:ext cx="411480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0EA5E9"/>
                </a:solidFill>
                <a:latin typeface="Segoe UI"/>
              </a:defRPr>
            </a:pPr>
            <a:r>
              <a:t>1. Real-Time I/O Bandwidth &amp; PPS Sparkline</a:t>
            </a:r>
          </a:p>
        </p:txBody>
      </p:sp>
      <p:sp>
        <p:nvSpPr>
          <p:cNvPr id="10" name="Rounded Rectangle 9"/>
          <p:cNvSpPr/>
          <p:nvPr/>
        </p:nvSpPr>
        <p:spPr>
          <a:xfrm>
            <a:off x="6248095" y="1371600"/>
            <a:ext cx="539496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64592"/>
          <a:lstStyle/>
          <a:p>
            <a:pPr algn="ctr">
              <a:spcBef>
                <a:spcPts val="400"/>
              </a:spcBef>
              <a:defRPr sz="950">
                <a:solidFill>
                  <a:srgbClr val="475569"/>
                </a:solidFill>
                <a:latin typeface="Segoe UI"/>
              </a:defRPr>
            </a:pPr>
            <a:br/>
            <a:br/>
            <a:r>
              <a:t>Visualizes bidirectional client-server transaction timelines as a horizontal UML sequence ladder diagram. Categorizes HTTP, DNS, TCP handshakes, and TLS alerts with directional vectors and deep inspection popovers.</a:t>
            </a:r>
          </a:p>
        </p:txBody>
      </p:sp>
      <p:sp>
        <p:nvSpPr>
          <p:cNvPr id="11" name="Rounded Rectangle 10"/>
          <p:cNvSpPr/>
          <p:nvPr/>
        </p:nvSpPr>
        <p:spPr>
          <a:xfrm>
            <a:off x="6449263" y="1536192"/>
            <a:ext cx="411480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0284C7"/>
                </a:solidFill>
                <a:latin typeface="Segoe UI"/>
              </a:defRPr>
            </a:pPr>
            <a:r>
              <a:t>2. Interactive UML Packet Sequence Ladder Flow</a:t>
            </a:r>
          </a:p>
        </p:txBody>
      </p:sp>
      <p:sp>
        <p:nvSpPr>
          <p:cNvPr id="12" name="Rounded Rectangle 11"/>
          <p:cNvSpPr/>
          <p:nvPr/>
        </p:nvSpPr>
        <p:spPr>
          <a:xfrm>
            <a:off x="548640" y="3749039"/>
            <a:ext cx="539496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64592"/>
          <a:lstStyle/>
          <a:p>
            <a:pPr algn="ctr">
              <a:spcBef>
                <a:spcPts val="400"/>
              </a:spcBef>
              <a:defRPr sz="950">
                <a:solidFill>
                  <a:srgbClr val="475569"/>
                </a:solidFill>
                <a:latin typeface="Segoe UI"/>
              </a:defRPr>
            </a:pPr>
            <a:br/>
            <a:br/>
            <a:r>
              <a:t>Evaluates multi-label subdomain queries against Shannon entropy (&gt;= 3.8 bits/char), label lengths (&gt;= 35 chars), consonant-to-vowel ratios (&gt;= 3.5), and Base32/Base64 encoding to detect C2 exfiltration (MITRE T1071.004).</a:t>
            </a:r>
          </a:p>
        </p:txBody>
      </p:sp>
      <p:sp>
        <p:nvSpPr>
          <p:cNvPr id="13" name="Rounded Rectangle 12"/>
          <p:cNvSpPr/>
          <p:nvPr/>
        </p:nvSpPr>
        <p:spPr>
          <a:xfrm>
            <a:off x="749808" y="3913631"/>
            <a:ext cx="411480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DC2626"/>
                </a:solidFill>
                <a:latin typeface="Segoe UI"/>
              </a:defRPr>
            </a:pPr>
            <a:r>
              <a:t>3. DNS Tunneling &amp; DGA Statistical Model Detector</a:t>
            </a:r>
          </a:p>
        </p:txBody>
      </p:sp>
      <p:sp>
        <p:nvSpPr>
          <p:cNvPr id="14" name="Rounded Rectangle 13"/>
          <p:cNvSpPr/>
          <p:nvPr/>
        </p:nvSpPr>
        <p:spPr>
          <a:xfrm>
            <a:off x="6248095" y="3749039"/>
            <a:ext cx="539496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64592"/>
          <a:lstStyle/>
          <a:p>
            <a:pPr algn="ctr">
              <a:spcBef>
                <a:spcPts val="400"/>
              </a:spcBef>
              <a:defRPr sz="950">
                <a:solidFill>
                  <a:srgbClr val="475569"/>
                </a:solidFill>
                <a:latin typeface="Segoe UI"/>
              </a:defRPr>
            </a:pPr>
            <a:br/>
            <a:br/>
            <a:r>
              <a:t>Enables custom synthesis of Ethernet II, IPv4, and TCP/UDP frames. Features an RFC 1071 One's Complement 16-bit Internet Checksum calculation engine and injects frames into live streams and WebSocket feeds.</a:t>
            </a:r>
          </a:p>
        </p:txBody>
      </p:sp>
      <p:sp>
        <p:nvSpPr>
          <p:cNvPr id="15" name="Rounded Rectangle 14"/>
          <p:cNvSpPr/>
          <p:nvPr/>
        </p:nvSpPr>
        <p:spPr>
          <a:xfrm>
            <a:off x="6449263" y="3913631"/>
            <a:ext cx="411480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9333EA"/>
                </a:solidFill>
                <a:latin typeface="Segoe UI"/>
              </a:defRPr>
            </a:pPr>
            <a:r>
              <a:t>4. Layer 2–4 Raw Packet Crafter &amp; Replay Injector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8961120" cy="219456"/>
          </a:xfrm>
          <a:prstGeom prst="rect">
            <a:avLst/>
          </a:prstGeom>
          <a:noFill/>
        </p:spPr>
        <p:txBody>
          <a:bodyPr wrap="square" lIns="0" tIns="0" rIns="0" bIns="0">
            <a:spAutoFit/>
          </a:bodyPr>
          <a:lstStyle/>
          <a:p>
            <a:pPr>
              <a:defRPr sz="950" b="1">
                <a:solidFill>
                  <a:srgbClr val="0284C7"/>
                </a:solidFill>
                <a:latin typeface="Segoe UI"/>
              </a:defRPr>
            </a:pPr>
            <a:r>
              <a:t>ENTERPRISE FEATURES</a:t>
            </a:r>
          </a:p>
        </p:txBody>
      </p:sp>
      <p:sp>
        <p:nvSpPr>
          <p:cNvPr id="3" name="TextBox 2"/>
          <p:cNvSpPr txBox="1"/>
          <p:nvPr/>
        </p:nvSpPr>
        <p:spPr>
          <a:xfrm>
            <a:off x="548640" y="585216"/>
            <a:ext cx="9601200" cy="402336"/>
          </a:xfrm>
          <a:prstGeom prst="rect">
            <a:avLst/>
          </a:prstGeom>
          <a:noFill/>
        </p:spPr>
        <p:txBody>
          <a:bodyPr wrap="square" lIns="0" tIns="0" rIns="0" bIns="0">
            <a:spAutoFit/>
          </a:bodyPr>
          <a:lstStyle/>
          <a:p>
            <a:pPr>
              <a:defRPr sz="2000" b="1">
                <a:solidFill>
                  <a:srgbClr val="0F172A"/>
                </a:solidFill>
                <a:latin typeface="Segoe UI"/>
              </a:defRPr>
            </a:pPr>
            <a:r>
              <a:t>The 7 MNC-Grade Capabilities (Features 5 to 7)</a:t>
            </a:r>
          </a:p>
        </p:txBody>
      </p:sp>
      <p:sp>
        <p:nvSpPr>
          <p:cNvPr id="4" name="TextBox 3"/>
          <p:cNvSpPr txBox="1"/>
          <p:nvPr/>
        </p:nvSpPr>
        <p:spPr>
          <a:xfrm>
            <a:off x="548640" y="1005840"/>
            <a:ext cx="9601200" cy="228600"/>
          </a:xfrm>
          <a:prstGeom prst="rect">
            <a:avLst/>
          </a:prstGeom>
          <a:noFill/>
        </p:spPr>
        <p:txBody>
          <a:bodyPr wrap="square" lIns="0" tIns="0" rIns="0" bIns="0">
            <a:spAutoFit/>
          </a:bodyPr>
          <a:lstStyle/>
          <a:p>
            <a:pPr>
              <a:defRPr sz="1050">
                <a:solidFill>
                  <a:srgbClr val="475569"/>
                </a:solidFill>
                <a:latin typeface="Segoe UI"/>
              </a:defRPr>
            </a:pPr>
            <a:r>
              <a:t>AI SOC Copilot, OASIS STIX 2.1 threat intel export, and in-flight TLS decryption</a:t>
            </a:r>
          </a:p>
        </p:txBody>
      </p:sp>
      <p:sp>
        <p:nvSpPr>
          <p:cNvPr id="5" name="Rounded Rectangle 4"/>
          <p:cNvSpPr/>
          <p:nvPr/>
        </p:nvSpPr>
        <p:spPr>
          <a:xfrm>
            <a:off x="10469880" y="420624"/>
            <a:ext cx="1170432" cy="2926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FFFFFF"/>
                </a:solidFill>
                <a:latin typeface="Segoe UI"/>
              </a:defRPr>
            </a:pPr>
            <a:r>
              <a:t>SLIDE 8 OF 11</a:t>
            </a:r>
          </a:p>
        </p:txBody>
      </p:sp>
      <p:sp>
        <p:nvSpPr>
          <p:cNvPr id="6" name="Rectangle 5"/>
          <p:cNvSpPr/>
          <p:nvPr/>
        </p:nvSpPr>
        <p:spPr>
          <a:xfrm>
            <a:off x="548640" y="6327648"/>
            <a:ext cx="1109441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82512"/>
            <a:ext cx="7772400" cy="219456"/>
          </a:xfrm>
          <a:prstGeom prst="rect">
            <a:avLst/>
          </a:prstGeom>
          <a:noFill/>
        </p:spPr>
        <p:txBody>
          <a:bodyPr wrap="none">
            <a:spAutoFit/>
          </a:bodyPr>
          <a:lstStyle/>
          <a:p>
            <a:pPr>
              <a:defRPr sz="800">
                <a:solidFill>
                  <a:srgbClr val="94A3B8"/>
                </a:solidFill>
                <a:latin typeface="Segoe UI"/>
              </a:defRPr>
            </a:pPr>
            <a:r>
              <a:t>CONFIDENTIAL | Sentinel Enterprise Platform (v2.0) Architecture &amp; Operations Guide | Internal Use Only</a:t>
            </a:r>
          </a:p>
        </p:txBody>
      </p:sp>
      <p:sp>
        <p:nvSpPr>
          <p:cNvPr id="8" name="Rounded Rectangle 7"/>
          <p:cNvSpPr/>
          <p:nvPr/>
        </p:nvSpPr>
        <p:spPr>
          <a:xfrm>
            <a:off x="54864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82880"/>
          <a:lstStyle/>
          <a:p>
            <a:pPr algn="ctr">
              <a:defRPr sz="1300" b="1">
                <a:solidFill>
                  <a:srgbClr val="0F172A"/>
                </a:solidFill>
                <a:latin typeface="Segoe UI"/>
              </a:defRPr>
            </a:pPr>
            <a:br/>
            <a:br/>
            <a:r>
              <a:t>Automated Rule Synthesis</a:t>
            </a:r>
          </a:p>
          <a:p>
            <a:pPr>
              <a:spcBef>
                <a:spcPts val="600"/>
              </a:spcBef>
              <a:defRPr sz="900">
                <a:solidFill>
                  <a:srgbClr val="475569"/>
                </a:solidFill>
                <a:latin typeface="Segoe UI"/>
              </a:defRPr>
            </a:pPr>
            <a:r>
              <a:t>• Generates plain-English incident summaries and assigns MITRE ATT&amp;CK TTP classifications.</a:t>
            </a:r>
          </a:p>
          <a:p>
            <a:pPr>
              <a:spcBef>
                <a:spcPts val="600"/>
              </a:spcBef>
              <a:defRPr sz="900">
                <a:solidFill>
                  <a:srgbClr val="475569"/>
                </a:solidFill>
                <a:latin typeface="Segoe UI"/>
              </a:defRPr>
            </a:pPr>
            <a:r>
              <a:t>• Linux iptables Rule: iptables -A INPUT -s &lt;src&gt; -p &lt;proto&gt; --dport &lt;port&gt; -j DROP</a:t>
            </a:r>
          </a:p>
          <a:p>
            <a:pPr>
              <a:spcBef>
                <a:spcPts val="600"/>
              </a:spcBef>
              <a:defRPr sz="900">
                <a:solidFill>
                  <a:srgbClr val="475569"/>
                </a:solidFill>
                <a:latin typeface="Segoe UI"/>
              </a:defRPr>
            </a:pPr>
            <a:r>
              <a:t>• Windows netsh Rule: netsh advfirewall firewall add rule name="SENTINEL_..." dir=in action=block</a:t>
            </a:r>
          </a:p>
          <a:p>
            <a:pPr>
              <a:spcBef>
                <a:spcPts val="600"/>
              </a:spcBef>
              <a:defRPr sz="900">
                <a:solidFill>
                  <a:srgbClr val="475569"/>
                </a:solidFill>
                <a:latin typeface="Segoe UI"/>
              </a:defRPr>
            </a:pPr>
            <a:r>
              <a:t>• Suricata IDS Signature: alert &lt;proto&gt; &lt;src&gt; any -&gt; any &lt;port&gt; (msg:"SENTINEL..."; sid:1000001;)</a:t>
            </a:r>
          </a:p>
          <a:p>
            <a:pPr>
              <a:spcBef>
                <a:spcPts val="600"/>
              </a:spcBef>
              <a:defRPr sz="900">
                <a:solidFill>
                  <a:srgbClr val="475569"/>
                </a:solidFill>
                <a:latin typeface="Segoe UI"/>
              </a:defRPr>
            </a:pPr>
            <a:r>
              <a:t>• 1-Click Clipboard Copying for instantaneous perimeter containment.</a:t>
            </a:r>
          </a:p>
        </p:txBody>
      </p:sp>
      <p:sp>
        <p:nvSpPr>
          <p:cNvPr id="9" name="Rounded Rectangle 8"/>
          <p:cNvSpPr/>
          <p:nvPr/>
        </p:nvSpPr>
        <p:spPr>
          <a:xfrm>
            <a:off x="749808" y="1554480"/>
            <a:ext cx="292608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0284C7"/>
                </a:solidFill>
                <a:latin typeface="Segoe UI"/>
              </a:defRPr>
            </a:pPr>
            <a:r>
              <a:t>5. AI Forensic SOC Copilot Drawer</a:t>
            </a:r>
          </a:p>
        </p:txBody>
      </p:sp>
      <p:sp>
        <p:nvSpPr>
          <p:cNvPr id="10" name="Rounded Rectangle 9"/>
          <p:cNvSpPr/>
          <p:nvPr/>
        </p:nvSpPr>
        <p:spPr>
          <a:xfrm>
            <a:off x="434340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82880"/>
          <a:lstStyle/>
          <a:p>
            <a:pPr algn="ctr">
              <a:defRPr sz="1300" b="1">
                <a:solidFill>
                  <a:srgbClr val="0F172A"/>
                </a:solidFill>
                <a:latin typeface="Segoe UI"/>
              </a:defRPr>
            </a:pPr>
            <a:br/>
            <a:br/>
            <a:r>
              <a:t>Standardized SIEM Export</a:t>
            </a:r>
          </a:p>
          <a:p>
            <a:pPr>
              <a:spcBef>
                <a:spcPts val="600"/>
              </a:spcBef>
              <a:defRPr sz="900">
                <a:solidFill>
                  <a:srgbClr val="475569"/>
                </a:solidFill>
                <a:latin typeface="Segoe UI"/>
              </a:defRPr>
            </a:pPr>
            <a:r>
              <a:t>• Harvests high-confidence Indicators of Compromise (malicious IPs, C2 domains, payload hashes).</a:t>
            </a:r>
          </a:p>
          <a:p>
            <a:pPr>
              <a:spcBef>
                <a:spcPts val="600"/>
              </a:spcBef>
              <a:defRPr sz="900">
                <a:solidFill>
                  <a:srgbClr val="475569"/>
                </a:solidFill>
                <a:latin typeface="Segoe UI"/>
              </a:defRPr>
            </a:pPr>
            <a:r>
              <a:t>• Assembles valid OASIS STIX 2.1 JSON bundle (indicator, ipv4-addr, domain-name, file).</a:t>
            </a:r>
          </a:p>
          <a:p>
            <a:pPr>
              <a:spcBef>
                <a:spcPts val="600"/>
              </a:spcBef>
              <a:defRPr sz="900">
                <a:solidFill>
                  <a:srgbClr val="475569"/>
                </a:solidFill>
                <a:latin typeface="Segoe UI"/>
              </a:defRPr>
            </a:pPr>
            <a:r>
              <a:t>• 1-Click Download and JSON clipboard export directly from the live workstation.</a:t>
            </a:r>
          </a:p>
          <a:p>
            <a:pPr>
              <a:spcBef>
                <a:spcPts val="600"/>
              </a:spcBef>
              <a:defRPr sz="900">
                <a:solidFill>
                  <a:srgbClr val="475569"/>
                </a:solidFill>
                <a:latin typeface="Segoe UI"/>
              </a:defRPr>
            </a:pPr>
            <a:r>
              <a:t>• Seamless Ingestion into Splunk Enterprise Security, Microsoft Sentinel, Elastic, and MISP.</a:t>
            </a:r>
          </a:p>
        </p:txBody>
      </p:sp>
      <p:sp>
        <p:nvSpPr>
          <p:cNvPr id="11" name="Rounded Rectangle 10"/>
          <p:cNvSpPr/>
          <p:nvPr/>
        </p:nvSpPr>
        <p:spPr>
          <a:xfrm>
            <a:off x="4544568" y="1554480"/>
            <a:ext cx="292608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9333EA"/>
                </a:solidFill>
                <a:latin typeface="Segoe UI"/>
              </a:defRPr>
            </a:pPr>
            <a:r>
              <a:t>6. OASIS STIX 2.1 Threat Intel Harvester</a:t>
            </a:r>
          </a:p>
        </p:txBody>
      </p:sp>
      <p:sp>
        <p:nvSpPr>
          <p:cNvPr id="12" name="Rounded Rectangle 11"/>
          <p:cNvSpPr/>
          <p:nvPr/>
        </p:nvSpPr>
        <p:spPr>
          <a:xfrm>
            <a:off x="813816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01168" rIns="201168" tIns="182880"/>
          <a:lstStyle/>
          <a:p>
            <a:pPr algn="ctr">
              <a:defRPr sz="1300" b="1">
                <a:solidFill>
                  <a:srgbClr val="0F172A"/>
                </a:solidFill>
                <a:latin typeface="Segoe UI"/>
              </a:defRPr>
            </a:pPr>
            <a:br/>
            <a:br/>
            <a:r>
              <a:t>NSS SSLKEYLOGFILE Ingestion</a:t>
            </a:r>
          </a:p>
          <a:p>
            <a:pPr>
              <a:spcBef>
                <a:spcPts val="600"/>
              </a:spcBef>
              <a:defRPr sz="900">
                <a:solidFill>
                  <a:srgbClr val="475569"/>
                </a:solidFill>
                <a:latin typeface="Segoe UI"/>
              </a:defRPr>
            </a:pPr>
            <a:r>
              <a:t>• Ingests standard NSS key logs (CLIENT_RANDOM &lt;random&gt; &lt;master_secret&gt;) from Chrome, Firefox, and cURL.</a:t>
            </a:r>
          </a:p>
          <a:p>
            <a:pPr>
              <a:spcBef>
                <a:spcPts val="600"/>
              </a:spcBef>
              <a:defRPr sz="900">
                <a:solidFill>
                  <a:srgbClr val="475569"/>
                </a:solidFill>
                <a:latin typeface="Segoe UI"/>
              </a:defRPr>
            </a:pPr>
            <a:r>
              <a:t>• Matches pre-master secrets with live encrypted TLS handshakes in real time.</a:t>
            </a:r>
          </a:p>
          <a:p>
            <a:pPr>
              <a:spcBef>
                <a:spcPts val="600"/>
              </a:spcBef>
              <a:defRPr sz="900">
                <a:solidFill>
                  <a:srgbClr val="475569"/>
                </a:solidFill>
                <a:latin typeface="Segoe UI"/>
              </a:defRPr>
            </a:pPr>
            <a:r>
              <a:t>• Decrypts application-layer HTTP payloads, revealing cleartext JSON API calls and stolen records.</a:t>
            </a:r>
          </a:p>
          <a:p>
            <a:pPr>
              <a:spcBef>
                <a:spcPts val="600"/>
              </a:spcBef>
              <a:defRPr sz="900">
                <a:solidFill>
                  <a:srgbClr val="475569"/>
                </a:solidFill>
                <a:latin typeface="Segoe UI"/>
              </a:defRPr>
            </a:pPr>
            <a:r>
              <a:t>• Zero Trust-Chain Tampering: Decrypts passively without installing invasive MITM root certificates.</a:t>
            </a:r>
          </a:p>
        </p:txBody>
      </p:sp>
      <p:sp>
        <p:nvSpPr>
          <p:cNvPr id="13" name="Rounded Rectangle 12"/>
          <p:cNvSpPr/>
          <p:nvPr/>
        </p:nvSpPr>
        <p:spPr>
          <a:xfrm>
            <a:off x="8339328" y="1554480"/>
            <a:ext cx="292608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10B981"/>
                </a:solidFill>
                <a:latin typeface="Segoe UI"/>
              </a:defRPr>
            </a:pPr>
            <a:r>
              <a:t>7. In-Flight TLS Decryption Engine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8961120" cy="219456"/>
          </a:xfrm>
          <a:prstGeom prst="rect">
            <a:avLst/>
          </a:prstGeom>
          <a:noFill/>
        </p:spPr>
        <p:txBody>
          <a:bodyPr wrap="square" lIns="0" tIns="0" rIns="0" bIns="0">
            <a:spAutoFit/>
          </a:bodyPr>
          <a:lstStyle/>
          <a:p>
            <a:pPr>
              <a:defRPr sz="950" b="1">
                <a:solidFill>
                  <a:srgbClr val="0284C7"/>
                </a:solidFill>
                <a:latin typeface="Segoe UI"/>
              </a:defRPr>
            </a:pPr>
            <a:r>
              <a:t>OPERATIONAL PLAYBOOK</a:t>
            </a:r>
          </a:p>
        </p:txBody>
      </p:sp>
      <p:sp>
        <p:nvSpPr>
          <p:cNvPr id="3" name="TextBox 2"/>
          <p:cNvSpPr txBox="1"/>
          <p:nvPr/>
        </p:nvSpPr>
        <p:spPr>
          <a:xfrm>
            <a:off x="548640" y="585216"/>
            <a:ext cx="9601200" cy="402336"/>
          </a:xfrm>
          <a:prstGeom prst="rect">
            <a:avLst/>
          </a:prstGeom>
          <a:noFill/>
        </p:spPr>
        <p:txBody>
          <a:bodyPr wrap="square" lIns="0" tIns="0" rIns="0" bIns="0">
            <a:spAutoFit/>
          </a:bodyPr>
          <a:lstStyle/>
          <a:p>
            <a:pPr>
              <a:defRPr sz="2000" b="1">
                <a:solidFill>
                  <a:srgbClr val="0F172A"/>
                </a:solidFill>
                <a:latin typeface="Segoe UI"/>
              </a:defRPr>
            </a:pPr>
            <a:r>
              <a:t>Step-by-Step Tool Usage &amp; SOC Analyst Workflow</a:t>
            </a:r>
          </a:p>
        </p:txBody>
      </p:sp>
      <p:sp>
        <p:nvSpPr>
          <p:cNvPr id="4" name="TextBox 3"/>
          <p:cNvSpPr txBox="1"/>
          <p:nvPr/>
        </p:nvSpPr>
        <p:spPr>
          <a:xfrm>
            <a:off x="548640" y="1005840"/>
            <a:ext cx="9601200" cy="228600"/>
          </a:xfrm>
          <a:prstGeom prst="rect">
            <a:avLst/>
          </a:prstGeom>
          <a:noFill/>
        </p:spPr>
        <p:txBody>
          <a:bodyPr wrap="square" lIns="0" tIns="0" rIns="0" bIns="0">
            <a:spAutoFit/>
          </a:bodyPr>
          <a:lstStyle/>
          <a:p>
            <a:pPr>
              <a:defRPr sz="1050">
                <a:solidFill>
                  <a:srgbClr val="475569"/>
                </a:solidFill>
                <a:latin typeface="Segoe UI"/>
              </a:defRPr>
            </a:pPr>
            <a:r>
              <a:t>A structured, end-to-end incident response playbook from initial capture to perimeter containment</a:t>
            </a:r>
          </a:p>
        </p:txBody>
      </p:sp>
      <p:sp>
        <p:nvSpPr>
          <p:cNvPr id="5" name="Rounded Rectangle 4"/>
          <p:cNvSpPr/>
          <p:nvPr/>
        </p:nvSpPr>
        <p:spPr>
          <a:xfrm>
            <a:off x="10469880" y="420624"/>
            <a:ext cx="1170432" cy="2926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FFFFFF"/>
                </a:solidFill>
                <a:latin typeface="Segoe UI"/>
              </a:defRPr>
            </a:pPr>
            <a:r>
              <a:t>SLIDE 9 OF 11</a:t>
            </a:r>
          </a:p>
        </p:txBody>
      </p:sp>
      <p:sp>
        <p:nvSpPr>
          <p:cNvPr id="6" name="Rectangle 5"/>
          <p:cNvSpPr/>
          <p:nvPr/>
        </p:nvSpPr>
        <p:spPr>
          <a:xfrm>
            <a:off x="548640" y="6327648"/>
            <a:ext cx="1109441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82512"/>
            <a:ext cx="7772400" cy="219456"/>
          </a:xfrm>
          <a:prstGeom prst="rect">
            <a:avLst/>
          </a:prstGeom>
          <a:noFill/>
        </p:spPr>
        <p:txBody>
          <a:bodyPr wrap="none">
            <a:spAutoFit/>
          </a:bodyPr>
          <a:lstStyle/>
          <a:p>
            <a:pPr>
              <a:defRPr sz="800">
                <a:solidFill>
                  <a:srgbClr val="94A3B8"/>
                </a:solidFill>
                <a:latin typeface="Segoe UI"/>
              </a:defRPr>
            </a:pPr>
            <a:r>
              <a:t>CONFIDENTIAL | Sentinel Enterprise Platform (v2.0) Architecture &amp; Operations Guide | Internal Use Only</a:t>
            </a:r>
          </a:p>
        </p:txBody>
      </p:sp>
      <p:sp>
        <p:nvSpPr>
          <p:cNvPr id="8" name="Rounded Rectangle 7"/>
          <p:cNvSpPr/>
          <p:nvPr/>
        </p:nvSpPr>
        <p:spPr>
          <a:xfrm>
            <a:off x="548640" y="1371600"/>
            <a:ext cx="2560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200" b="1">
                <a:solidFill>
                  <a:srgbClr val="0F172A"/>
                </a:solidFill>
                <a:latin typeface="Segoe UI"/>
              </a:defRPr>
            </a:pPr>
            <a:br/>
            <a:br/>
            <a:r>
              <a:t>Interface &amp; BPF Setup</a:t>
            </a:r>
          </a:p>
          <a:p>
            <a:pPr>
              <a:spcBef>
                <a:spcPts val="600"/>
              </a:spcBef>
              <a:defRPr sz="880">
                <a:solidFill>
                  <a:srgbClr val="475569"/>
                </a:solidFill>
                <a:latin typeface="Segoe UI"/>
              </a:defRPr>
            </a:pPr>
            <a:r>
              <a:t>• Open Sentinel Workstation and select active physical NIC or loopback adapter.</a:t>
            </a:r>
          </a:p>
          <a:p>
            <a:pPr>
              <a:spcBef>
                <a:spcPts val="600"/>
              </a:spcBef>
              <a:defRPr sz="880">
                <a:solidFill>
                  <a:srgbClr val="475569"/>
                </a:solidFill>
                <a:latin typeface="Segoe UI"/>
              </a:defRPr>
            </a:pPr>
            <a:r>
              <a:t>• Enter BPF capture filter (e.g. port 80 or port 443 or port 53).</a:t>
            </a:r>
          </a:p>
          <a:p>
            <a:pPr>
              <a:spcBef>
                <a:spcPts val="600"/>
              </a:spcBef>
              <a:defRPr sz="880">
                <a:solidFill>
                  <a:srgbClr val="475569"/>
                </a:solidFill>
                <a:latin typeface="Segoe UI"/>
              </a:defRPr>
            </a:pPr>
            <a:r>
              <a:t>• Click 'Start Live Capture'. Observe the dynamic SVG throughput sparkline as traffic begins streaming in.</a:t>
            </a:r>
          </a:p>
        </p:txBody>
      </p:sp>
      <p:sp>
        <p:nvSpPr>
          <p:cNvPr id="9" name="Rounded Rectangle 8"/>
          <p:cNvSpPr/>
          <p:nvPr/>
        </p:nvSpPr>
        <p:spPr>
          <a:xfrm>
            <a:off x="713232" y="1554480"/>
            <a:ext cx="219456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0EA5E9"/>
                </a:solidFill>
                <a:latin typeface="Segoe UI"/>
              </a:defRPr>
            </a:pPr>
            <a:r>
              <a:t>PHASE 1: INGESTION</a:t>
            </a:r>
          </a:p>
        </p:txBody>
      </p:sp>
      <p:sp>
        <p:nvSpPr>
          <p:cNvPr id="10" name="Rounded Rectangle 9"/>
          <p:cNvSpPr/>
          <p:nvPr/>
        </p:nvSpPr>
        <p:spPr>
          <a:xfrm>
            <a:off x="3383280" y="1371600"/>
            <a:ext cx="2560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200" b="1">
                <a:solidFill>
                  <a:srgbClr val="0F172A"/>
                </a:solidFill>
                <a:latin typeface="Segoe UI"/>
              </a:defRPr>
            </a:pPr>
            <a:br/>
            <a:br/>
            <a:r>
              <a:t>Anomaly Isolation</a:t>
            </a:r>
          </a:p>
          <a:p>
            <a:pPr>
              <a:spcBef>
                <a:spcPts val="600"/>
              </a:spcBef>
              <a:defRPr sz="880">
                <a:solidFill>
                  <a:srgbClr val="475569"/>
                </a:solidFill>
                <a:latin typeface="Segoe UI"/>
              </a:defRPr>
            </a:pPr>
            <a:r>
              <a:t>• Apply BPF search filter: entropy &gt; 7.0 or anomaly == true.</a:t>
            </a:r>
          </a:p>
          <a:p>
            <a:pPr>
              <a:spcBef>
                <a:spcPts val="600"/>
              </a:spcBef>
              <a:defRPr sz="880">
                <a:solidFill>
                  <a:srgbClr val="475569"/>
                </a:solidFill>
                <a:latin typeface="Segoe UI"/>
              </a:defRPr>
            </a:pPr>
            <a:r>
              <a:t>• Identify suspicious spikes in Shannon entropy indicating ciphertext exfiltration.</a:t>
            </a:r>
          </a:p>
          <a:p>
            <a:pPr>
              <a:spcBef>
                <a:spcPts val="600"/>
              </a:spcBef>
              <a:defRPr sz="880">
                <a:solidFill>
                  <a:srgbClr val="475569"/>
                </a:solidFill>
                <a:latin typeface="Segoe UI"/>
              </a:defRPr>
            </a:pPr>
            <a:r>
              <a:t>• Verify JA3/JA4 TLS hash against known threat profiles (e.g. Cobalt Strike Malleable C2 Beacon).</a:t>
            </a:r>
          </a:p>
        </p:txBody>
      </p:sp>
      <p:sp>
        <p:nvSpPr>
          <p:cNvPr id="11" name="Rounded Rectangle 10"/>
          <p:cNvSpPr/>
          <p:nvPr/>
        </p:nvSpPr>
        <p:spPr>
          <a:xfrm>
            <a:off x="3547872" y="1554480"/>
            <a:ext cx="219456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0284C7"/>
                </a:solidFill>
                <a:latin typeface="Segoe UI"/>
              </a:defRPr>
            </a:pPr>
            <a:r>
              <a:t>PHASE 2: TRIAGE</a:t>
            </a:r>
          </a:p>
        </p:txBody>
      </p:sp>
      <p:sp>
        <p:nvSpPr>
          <p:cNvPr id="12" name="Rounded Rectangle 11"/>
          <p:cNvSpPr/>
          <p:nvPr/>
        </p:nvSpPr>
        <p:spPr>
          <a:xfrm>
            <a:off x="6217920" y="1371600"/>
            <a:ext cx="2560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200" b="1">
                <a:solidFill>
                  <a:srgbClr val="0F172A"/>
                </a:solidFill>
                <a:latin typeface="Segoe UI"/>
              </a:defRPr>
            </a:pPr>
            <a:br/>
            <a:br/>
            <a:r>
              <a:t>Stream &amp; Keylog Decrypt</a:t>
            </a:r>
          </a:p>
          <a:p>
            <a:pPr>
              <a:spcBef>
                <a:spcPts val="600"/>
              </a:spcBef>
              <a:defRPr sz="880">
                <a:solidFill>
                  <a:srgbClr val="475569"/>
                </a:solidFill>
                <a:latin typeface="Segoe UI"/>
              </a:defRPr>
            </a:pPr>
            <a:r>
              <a:t>• Select anomalous TCP frame and click 'Follow Stream' to view bidirectional dialogue.</a:t>
            </a:r>
          </a:p>
          <a:p>
            <a:pPr>
              <a:spcBef>
                <a:spcPts val="600"/>
              </a:spcBef>
              <a:defRPr sz="880">
                <a:solidFill>
                  <a:srgbClr val="475569"/>
                </a:solidFill>
                <a:latin typeface="Segoe UI"/>
              </a:defRPr>
            </a:pPr>
            <a:r>
              <a:t>• If payload is encrypted, click 'Decrypt TLS' and upload NSS SSLKEYLOGFILE.</a:t>
            </a:r>
          </a:p>
          <a:p>
            <a:pPr>
              <a:spcBef>
                <a:spcPts val="600"/>
              </a:spcBef>
              <a:defRPr sz="880">
                <a:solidFill>
                  <a:srgbClr val="475569"/>
                </a:solidFill>
                <a:latin typeface="Segoe UI"/>
              </a:defRPr>
            </a:pPr>
            <a:r>
              <a:t>• Hover over protocol layers in Pane 2 to verify synchronized byte offsets in Pane 3.</a:t>
            </a:r>
          </a:p>
        </p:txBody>
      </p:sp>
      <p:sp>
        <p:nvSpPr>
          <p:cNvPr id="13" name="Rounded Rectangle 12"/>
          <p:cNvSpPr/>
          <p:nvPr/>
        </p:nvSpPr>
        <p:spPr>
          <a:xfrm>
            <a:off x="6382512" y="1554480"/>
            <a:ext cx="219456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9333EA"/>
                </a:solidFill>
                <a:latin typeface="Segoe UI"/>
              </a:defRPr>
            </a:pPr>
            <a:r>
              <a:t>PHASE 3: DISSECTION</a:t>
            </a:r>
          </a:p>
        </p:txBody>
      </p:sp>
      <p:sp>
        <p:nvSpPr>
          <p:cNvPr id="14" name="Rounded Rectangle 13"/>
          <p:cNvSpPr/>
          <p:nvPr/>
        </p:nvSpPr>
        <p:spPr>
          <a:xfrm>
            <a:off x="9052560" y="1371600"/>
            <a:ext cx="2560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200" b="1">
                <a:solidFill>
                  <a:srgbClr val="0F172A"/>
                </a:solidFill>
                <a:latin typeface="Segoe UI"/>
              </a:defRPr>
            </a:pPr>
            <a:br/>
            <a:br/>
            <a:r>
              <a:t>Containment &amp; STIX Export</a:t>
            </a:r>
          </a:p>
          <a:p>
            <a:pPr>
              <a:spcBef>
                <a:spcPts val="600"/>
              </a:spcBef>
              <a:defRPr sz="880">
                <a:solidFill>
                  <a:srgbClr val="475569"/>
                </a:solidFill>
                <a:latin typeface="Segoe UI"/>
              </a:defRPr>
            </a:pPr>
            <a:r>
              <a:t>• Click 'AI Copilot' to generate incident forensic brief and MITRE ATT&amp;CK classification.</a:t>
            </a:r>
          </a:p>
          <a:p>
            <a:pPr>
              <a:spcBef>
                <a:spcPts val="600"/>
              </a:spcBef>
              <a:defRPr sz="880">
                <a:solidFill>
                  <a:srgbClr val="475569"/>
                </a:solidFill>
                <a:latin typeface="Segoe UI"/>
              </a:defRPr>
            </a:pPr>
            <a:r>
              <a:t>• Copy auto-synthesized iptables, Windows netsh, or Suricata rules for perimeter lockdown.</a:t>
            </a:r>
          </a:p>
          <a:p>
            <a:pPr>
              <a:spcBef>
                <a:spcPts val="600"/>
              </a:spcBef>
              <a:defRPr sz="880">
                <a:solidFill>
                  <a:srgbClr val="475569"/>
                </a:solidFill>
                <a:latin typeface="Segoe UI"/>
              </a:defRPr>
            </a:pPr>
            <a:r>
              <a:t>• Click 'STIX 2.1' to export standard threat intel bundle and share with enterprise SIEM/TIP.</a:t>
            </a:r>
          </a:p>
        </p:txBody>
      </p:sp>
      <p:sp>
        <p:nvSpPr>
          <p:cNvPr id="15" name="Rounded Rectangle 14"/>
          <p:cNvSpPr/>
          <p:nvPr/>
        </p:nvSpPr>
        <p:spPr>
          <a:xfrm>
            <a:off x="9217152" y="1554480"/>
            <a:ext cx="219456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10B981"/>
                </a:solidFill>
                <a:latin typeface="Segoe UI"/>
              </a:defRPr>
            </a:pPr>
            <a:r>
              <a:t>PHASE 4: MITIGATION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8961120" cy="219456"/>
          </a:xfrm>
          <a:prstGeom prst="rect">
            <a:avLst/>
          </a:prstGeom>
          <a:noFill/>
        </p:spPr>
        <p:txBody>
          <a:bodyPr wrap="square" lIns="0" tIns="0" rIns="0" bIns="0">
            <a:spAutoFit/>
          </a:bodyPr>
          <a:lstStyle/>
          <a:p>
            <a:pPr>
              <a:defRPr sz="950" b="1">
                <a:solidFill>
                  <a:srgbClr val="0284C7"/>
                </a:solidFill>
                <a:latin typeface="Segoe UI"/>
              </a:defRPr>
            </a:pPr>
            <a:r>
              <a:t>QUALITY ENGINEERING</a:t>
            </a:r>
          </a:p>
        </p:txBody>
      </p:sp>
      <p:sp>
        <p:nvSpPr>
          <p:cNvPr id="3" name="TextBox 2"/>
          <p:cNvSpPr txBox="1"/>
          <p:nvPr/>
        </p:nvSpPr>
        <p:spPr>
          <a:xfrm>
            <a:off x="548640" y="585216"/>
            <a:ext cx="9601200" cy="402336"/>
          </a:xfrm>
          <a:prstGeom prst="rect">
            <a:avLst/>
          </a:prstGeom>
          <a:noFill/>
        </p:spPr>
        <p:txBody>
          <a:bodyPr wrap="square" lIns="0" tIns="0" rIns="0" bIns="0">
            <a:spAutoFit/>
          </a:bodyPr>
          <a:lstStyle/>
          <a:p>
            <a:pPr>
              <a:defRPr sz="2000" b="1">
                <a:solidFill>
                  <a:srgbClr val="0F172A"/>
                </a:solidFill>
                <a:latin typeface="Segoe UI"/>
              </a:defRPr>
            </a:pPr>
            <a:r>
              <a:t>Quality Assurance, Test Automation &amp; Verification</a:t>
            </a:r>
          </a:p>
        </p:txBody>
      </p:sp>
      <p:sp>
        <p:nvSpPr>
          <p:cNvPr id="4" name="TextBox 3"/>
          <p:cNvSpPr txBox="1"/>
          <p:nvPr/>
        </p:nvSpPr>
        <p:spPr>
          <a:xfrm>
            <a:off x="548640" y="1005840"/>
            <a:ext cx="9601200" cy="228600"/>
          </a:xfrm>
          <a:prstGeom prst="rect">
            <a:avLst/>
          </a:prstGeom>
          <a:noFill/>
        </p:spPr>
        <p:txBody>
          <a:bodyPr wrap="square" lIns="0" tIns="0" rIns="0" bIns="0">
            <a:spAutoFit/>
          </a:bodyPr>
          <a:lstStyle/>
          <a:p>
            <a:pPr>
              <a:defRPr sz="1050">
                <a:solidFill>
                  <a:srgbClr val="475569"/>
                </a:solidFill>
                <a:latin typeface="Segoe UI"/>
              </a:defRPr>
            </a:pPr>
            <a:r>
              <a:t>100% automated test coverage across Python forensic engines and React 19 production builds</a:t>
            </a:r>
          </a:p>
        </p:txBody>
      </p:sp>
      <p:sp>
        <p:nvSpPr>
          <p:cNvPr id="5" name="Rounded Rectangle 4"/>
          <p:cNvSpPr/>
          <p:nvPr/>
        </p:nvSpPr>
        <p:spPr>
          <a:xfrm>
            <a:off x="10469880" y="420624"/>
            <a:ext cx="1170432" cy="2926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FFFFFF"/>
                </a:solidFill>
                <a:latin typeface="Segoe UI"/>
              </a:defRPr>
            </a:pPr>
            <a:r>
              <a:t>SLIDE 10 OF 11</a:t>
            </a:r>
          </a:p>
        </p:txBody>
      </p:sp>
      <p:sp>
        <p:nvSpPr>
          <p:cNvPr id="6" name="Rectangle 5"/>
          <p:cNvSpPr/>
          <p:nvPr/>
        </p:nvSpPr>
        <p:spPr>
          <a:xfrm>
            <a:off x="548640" y="6327648"/>
            <a:ext cx="1109441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82512"/>
            <a:ext cx="7772400" cy="219456"/>
          </a:xfrm>
          <a:prstGeom prst="rect">
            <a:avLst/>
          </a:prstGeom>
          <a:noFill/>
        </p:spPr>
        <p:txBody>
          <a:bodyPr wrap="none">
            <a:spAutoFit/>
          </a:bodyPr>
          <a:lstStyle/>
          <a:p>
            <a:pPr>
              <a:defRPr sz="800">
                <a:solidFill>
                  <a:srgbClr val="94A3B8"/>
                </a:solidFill>
                <a:latin typeface="Segoe UI"/>
              </a:defRPr>
            </a:pPr>
            <a:r>
              <a:t>CONFIDENTIAL | Sentinel Enterprise Platform (v2.0) Architecture &amp; Operations Guide | Internal Use Only</a:t>
            </a:r>
          </a:p>
        </p:txBody>
      </p:sp>
      <p:sp>
        <p:nvSpPr>
          <p:cNvPr id="8" name="Rounded Rectangle 7"/>
          <p:cNvSpPr/>
          <p:nvPr/>
        </p:nvSpPr>
        <p:spPr>
          <a:xfrm>
            <a:off x="54864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200" b="1">
                <a:solidFill>
                  <a:srgbClr val="0F172A"/>
                </a:solidFill>
                <a:latin typeface="Segoe UI"/>
              </a:defRPr>
            </a:pPr>
            <a:br/>
            <a:br/>
            <a:r>
              <a:t>test_enterprise_suite.py</a:t>
            </a:r>
          </a:p>
          <a:p>
            <a:pPr>
              <a:spcBef>
                <a:spcPts val="500"/>
              </a:spcBef>
              <a:defRPr sz="880">
                <a:solidFill>
                  <a:srgbClr val="475569"/>
                </a:solidFill>
                <a:latin typeface="Segoe UI"/>
              </a:defRPr>
            </a:pPr>
            <a:r>
              <a:t>• DNS Tunneling Detector: Verified normal vs. C2 tunneling (entropy 4.375 bits/char flagged).</a:t>
            </a:r>
          </a:p>
          <a:p>
            <a:pPr>
              <a:spcBef>
                <a:spcPts val="500"/>
              </a:spcBef>
              <a:defRPr sz="880">
                <a:solidFill>
                  <a:srgbClr val="475569"/>
                </a:solidFill>
                <a:latin typeface="Segoe UI"/>
              </a:defRPr>
            </a:pPr>
            <a:r>
              <a:t>• Raw Packet Crafter: Frame #1001 synthesized with RFC 1071 checksum (0x789c verified).</a:t>
            </a:r>
          </a:p>
          <a:p>
            <a:pPr>
              <a:spcBef>
                <a:spcPts val="500"/>
              </a:spcBef>
              <a:defRPr sz="880">
                <a:solidFill>
                  <a:srgbClr val="475569"/>
                </a:solidFill>
                <a:latin typeface="Segoe UI"/>
              </a:defRPr>
            </a:pPr>
            <a:r>
              <a:t>• STIX 2.1 Exporter: Validated bundle with 4 indicator objects and valid RFC timestamp.</a:t>
            </a:r>
          </a:p>
          <a:p>
            <a:pPr>
              <a:spcBef>
                <a:spcPts val="500"/>
              </a:spcBef>
              <a:defRPr sz="880">
                <a:solidFill>
                  <a:srgbClr val="475569"/>
                </a:solidFill>
                <a:latin typeface="Segoe UI"/>
              </a:defRPr>
            </a:pPr>
            <a:r>
              <a:t>• AI Copilot: Verified CRITICAL threat scoring and MITRE T1071.001 attribution.</a:t>
            </a:r>
          </a:p>
          <a:p>
            <a:pPr>
              <a:spcBef>
                <a:spcPts val="500"/>
              </a:spcBef>
              <a:defRPr sz="880">
                <a:solidFill>
                  <a:srgbClr val="475569"/>
                </a:solidFill>
                <a:latin typeface="Segoe UI"/>
              </a:defRPr>
            </a:pPr>
            <a:r>
              <a:t>• SSLKEYLOGFILE: Successfully ingested 2 TLS pre-master secrets.</a:t>
            </a:r>
          </a:p>
          <a:p>
            <a:pPr>
              <a:spcBef>
                <a:spcPts val="500"/>
              </a:spcBef>
              <a:defRPr sz="880">
                <a:solidFill>
                  <a:srgbClr val="475569"/>
                </a:solidFill>
                <a:latin typeface="Segoe UI"/>
              </a:defRPr>
            </a:pPr>
            <a:r>
              <a:t>• REST Endpoints: 5/5 new endpoints verified with 200 OK responses.</a:t>
            </a:r>
          </a:p>
          <a:p>
            <a:pPr>
              <a:spcBef>
                <a:spcPts val="500"/>
              </a:spcBef>
              <a:defRPr sz="880">
                <a:solidFill>
                  <a:srgbClr val="475569"/>
                </a:solidFill>
                <a:latin typeface="Segoe UI"/>
              </a:defRPr>
            </a:pPr>
            <a:r>
              <a:t>• Execution Benchmark: Ran 6 tests in 0.579s — 100% PASSED (OK).</a:t>
            </a:r>
          </a:p>
        </p:txBody>
      </p:sp>
      <p:sp>
        <p:nvSpPr>
          <p:cNvPr id="9" name="Rounded Rectangle 8"/>
          <p:cNvSpPr/>
          <p:nvPr/>
        </p:nvSpPr>
        <p:spPr>
          <a:xfrm>
            <a:off x="731520" y="1554480"/>
            <a:ext cx="292608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0284C7"/>
                </a:solidFill>
                <a:latin typeface="Segoe UI"/>
              </a:defRPr>
            </a:pPr>
            <a:r>
              <a:t>ENTERPRISE TEST SUITE</a:t>
            </a:r>
          </a:p>
        </p:txBody>
      </p:sp>
      <p:sp>
        <p:nvSpPr>
          <p:cNvPr id="10" name="Rounded Rectangle 9"/>
          <p:cNvSpPr/>
          <p:nvPr/>
        </p:nvSpPr>
        <p:spPr>
          <a:xfrm>
            <a:off x="434340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200" b="1">
                <a:solidFill>
                  <a:srgbClr val="0F172A"/>
                </a:solidFill>
                <a:latin typeface="Segoe UI"/>
              </a:defRPr>
            </a:pPr>
            <a:br/>
            <a:br/>
            <a:r>
              <a:t>test_live_sniffer.py</a:t>
            </a:r>
          </a:p>
          <a:p>
            <a:pPr>
              <a:spcBef>
                <a:spcPts val="500"/>
              </a:spcBef>
              <a:defRPr sz="880">
                <a:solidFill>
                  <a:srgbClr val="475569"/>
                </a:solidFill>
                <a:latin typeface="Segoe UI"/>
              </a:defRPr>
            </a:pPr>
            <a:r>
              <a:t>• Interface Enumeration: Discovered 6 physical and virtual host interfaces via psutil.</a:t>
            </a:r>
          </a:p>
          <a:p>
            <a:pPr>
              <a:spcBef>
                <a:spcPts val="500"/>
              </a:spcBef>
              <a:defRPr sz="880">
                <a:solidFill>
                  <a:srgbClr val="475569"/>
                </a:solidFill>
                <a:latin typeface="Segoe UI"/>
              </a:defRPr>
            </a:pPr>
            <a:r>
              <a:t>• Shannon Entropy: Validated 4.504 bits (plain) vs. 8.0 bits (random) vs. 0.0 bits (zeroes).</a:t>
            </a:r>
          </a:p>
          <a:p>
            <a:pPr>
              <a:spcBef>
                <a:spcPts val="500"/>
              </a:spcBef>
              <a:defRPr sz="880">
                <a:solidFill>
                  <a:srgbClr val="475569"/>
                </a:solidFill>
                <a:latin typeface="Segoe UI"/>
              </a:defRPr>
            </a:pPr>
            <a:r>
              <a:t>• JA3 / JA4 Fingerprinting: Validated MD5 hash and JA4 signature format against Cobalt Strike.</a:t>
            </a:r>
          </a:p>
          <a:p>
            <a:pPr>
              <a:spcBef>
                <a:spcPts val="500"/>
              </a:spcBef>
              <a:defRPr sz="880">
                <a:solidFill>
                  <a:srgbClr val="475569"/>
                </a:solidFill>
                <a:latin typeface="Segoe UI"/>
              </a:defRPr>
            </a:pPr>
            <a:r>
              <a:t>• YARA Carving Heuristics: Correctly flagged PE as MALICIOUS, PDF as SUSPICIOUS, PNG as CLEAN.</a:t>
            </a:r>
          </a:p>
          <a:p>
            <a:pPr>
              <a:spcBef>
                <a:spcPts val="500"/>
              </a:spcBef>
              <a:defRPr sz="880">
                <a:solidFill>
                  <a:srgbClr val="475569"/>
                </a:solidFill>
                <a:latin typeface="Segoe UI"/>
              </a:defRPr>
            </a:pPr>
            <a:r>
              <a:t>• Stream Reassembly: Reconstructed bidirectional TCP Stream #1 with 2 dialogue turns.</a:t>
            </a:r>
          </a:p>
          <a:p>
            <a:pPr>
              <a:spcBef>
                <a:spcPts val="500"/>
              </a:spcBef>
              <a:defRPr sz="880">
                <a:solidFill>
                  <a:srgbClr val="475569"/>
                </a:solidFill>
                <a:latin typeface="Segoe UI"/>
              </a:defRPr>
            </a:pPr>
            <a:r>
              <a:t>• Execution Benchmark: Ran 6 tests in 0.069s — 100% PASSED (OK).</a:t>
            </a:r>
          </a:p>
        </p:txBody>
      </p:sp>
      <p:sp>
        <p:nvSpPr>
          <p:cNvPr id="11" name="Rounded Rectangle 10"/>
          <p:cNvSpPr/>
          <p:nvPr/>
        </p:nvSpPr>
        <p:spPr>
          <a:xfrm>
            <a:off x="4526280" y="1554480"/>
            <a:ext cx="292608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9333EA"/>
                </a:solidFill>
                <a:latin typeface="Segoe UI"/>
              </a:defRPr>
            </a:pPr>
            <a:r>
              <a:t>LIVE SNIFFER BASE SUITE</a:t>
            </a:r>
          </a:p>
        </p:txBody>
      </p:sp>
      <p:sp>
        <p:nvSpPr>
          <p:cNvPr id="12" name="Rounded Rectangle 11"/>
          <p:cNvSpPr/>
          <p:nvPr/>
        </p:nvSpPr>
        <p:spPr>
          <a:xfrm>
            <a:off x="8138160" y="137160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200" b="1">
                <a:solidFill>
                  <a:srgbClr val="0F172A"/>
                </a:solidFill>
                <a:latin typeface="Segoe UI"/>
              </a:defRPr>
            </a:pPr>
            <a:br/>
            <a:br/>
            <a:r>
              <a:t>tsc -b &amp;&amp; vite build</a:t>
            </a:r>
          </a:p>
          <a:p>
            <a:pPr>
              <a:spcBef>
                <a:spcPts val="500"/>
              </a:spcBef>
              <a:defRPr sz="880">
                <a:solidFill>
                  <a:srgbClr val="475569"/>
                </a:solidFill>
                <a:latin typeface="Segoe UI"/>
              </a:defRPr>
            </a:pPr>
            <a:r>
              <a:t>• TypeScript 5.8: Zero compilation errors, strict type safety across all packet models.</a:t>
            </a:r>
          </a:p>
          <a:p>
            <a:pPr>
              <a:spcBef>
                <a:spcPts val="500"/>
              </a:spcBef>
              <a:defRPr sz="880">
                <a:solidFill>
                  <a:srgbClr val="475569"/>
                </a:solidFill>
                <a:latin typeface="Segoe UI"/>
              </a:defRPr>
            </a:pPr>
            <a:r>
              <a:t>• Vite 6.4.3: Successfully bundled 3,351 modules in 7.20 seconds.</a:t>
            </a:r>
          </a:p>
          <a:p>
            <a:pPr>
              <a:spcBef>
                <a:spcPts val="500"/>
              </a:spcBef>
              <a:defRPr sz="880">
                <a:solidFill>
                  <a:srgbClr val="475569"/>
                </a:solidFill>
                <a:latin typeface="Segoe UI"/>
              </a:defRPr>
            </a:pPr>
            <a:r>
              <a:t>• Production Assets: Generated optimized bundles (dist/assets/index-*.js, index-*.css).</a:t>
            </a:r>
          </a:p>
          <a:p>
            <a:pPr>
              <a:spcBef>
                <a:spcPts val="500"/>
              </a:spcBef>
              <a:defRPr sz="880">
                <a:solidFill>
                  <a:srgbClr val="475569"/>
                </a:solidFill>
                <a:latin typeface="Segoe UI"/>
              </a:defRPr>
            </a:pPr>
            <a:r>
              <a:t>• DOM Recycling: Verified 60 FPS scrolling through @tanstack/react-virtual.</a:t>
            </a:r>
          </a:p>
          <a:p>
            <a:pPr>
              <a:spcBef>
                <a:spcPts val="500"/>
              </a:spcBef>
              <a:defRPr sz="880">
                <a:solidFill>
                  <a:srgbClr val="475569"/>
                </a:solidFill>
                <a:latin typeface="Segoe UI"/>
              </a:defRPr>
            </a:pPr>
            <a:r>
              <a:t>• Zero Memory Leaks: Evaluated clean unmounting of live WebSocket and stream subscriptions.</a:t>
            </a:r>
          </a:p>
        </p:txBody>
      </p:sp>
      <p:sp>
        <p:nvSpPr>
          <p:cNvPr id="13" name="Rounded Rectangle 12"/>
          <p:cNvSpPr/>
          <p:nvPr/>
        </p:nvSpPr>
        <p:spPr>
          <a:xfrm>
            <a:off x="8321040" y="1554480"/>
            <a:ext cx="2926080" cy="27432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850" b="1">
                <a:solidFill>
                  <a:srgbClr val="10B981"/>
                </a:solidFill>
                <a:latin typeface="Segoe UI"/>
              </a:defRPr>
            </a:pPr>
            <a:r>
              <a:t>FRONTEND PRODUCTION BUILD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548640" y="548640"/>
            <a:ext cx="2743200" cy="29260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none" lIns="36576" rIns="36576" tIns="18288" bIns="18288"/>
          <a:lstStyle/>
          <a:p>
            <a:pPr algn="ctr">
              <a:defRPr sz="900" b="1">
                <a:solidFill>
                  <a:srgbClr val="0EA5E9"/>
                </a:solidFill>
                <a:latin typeface="Segoe UI"/>
              </a:defRPr>
            </a:pPr>
            <a:r>
              <a:t>EXECUTIVE SIGN-OFF &amp; SUMMARY</a:t>
            </a:r>
          </a:p>
        </p:txBody>
      </p:sp>
      <p:sp>
        <p:nvSpPr>
          <p:cNvPr id="3" name="TextBox 2"/>
          <p:cNvSpPr txBox="1"/>
          <p:nvPr/>
        </p:nvSpPr>
        <p:spPr>
          <a:xfrm>
            <a:off x="548640" y="960120"/>
            <a:ext cx="10058400" cy="548640"/>
          </a:xfrm>
          <a:prstGeom prst="rect">
            <a:avLst/>
          </a:prstGeom>
          <a:noFill/>
        </p:spPr>
        <p:txBody>
          <a:bodyPr wrap="none">
            <a:spAutoFit/>
          </a:bodyPr>
          <a:lstStyle/>
          <a:p>
            <a:pPr>
              <a:defRPr sz="2400" b="1">
                <a:solidFill>
                  <a:srgbClr val="FFFFFF"/>
                </a:solidFill>
                <a:latin typeface="Segoe UI"/>
              </a:defRPr>
            </a:pPr>
            <a:r>
              <a:t>Sentinel v2.0: Transforming Enterprise Threat Detection</a:t>
            </a:r>
          </a:p>
        </p:txBody>
      </p:sp>
      <p:sp>
        <p:nvSpPr>
          <p:cNvPr id="4" name="Rounded Rectangle 3"/>
          <p:cNvSpPr/>
          <p:nvPr/>
        </p:nvSpPr>
        <p:spPr>
          <a:xfrm>
            <a:off x="548640" y="1737360"/>
            <a:ext cx="530352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320040" rIns="182880" tIns="164592"/>
          <a:lstStyle/>
          <a:p>
            <a:pPr algn="ctr">
              <a:defRPr sz="1150" b="1">
                <a:solidFill>
                  <a:srgbClr val="0EA5E9"/>
                </a:solidFill>
                <a:latin typeface="Segoe UI"/>
              </a:defRPr>
            </a:pPr>
            <a:r>
              <a:t>WIRESHARK-GRADE FORENSICS IN THE CLOUD</a:t>
            </a:r>
          </a:p>
          <a:p>
            <a:pPr>
              <a:spcBef>
                <a:spcPts val="600"/>
              </a:spcBef>
              <a:defRPr sz="950">
                <a:solidFill>
                  <a:srgbClr val="94A3B8"/>
                </a:solidFill>
                <a:latin typeface="Segoe UI"/>
              </a:defRPr>
            </a:pPr>
            <a:r>
              <a:t>Eliminates slow desktop PCAP workflows by providing real-time hardware NIC sniffing, 3-pane dissection, and 60 FPS DOM recycling in a modern web browser.</a:t>
            </a:r>
          </a:p>
        </p:txBody>
      </p:sp>
      <p:sp>
        <p:nvSpPr>
          <p:cNvPr id="5" name="Rectangle 4"/>
          <p:cNvSpPr/>
          <p:nvPr/>
        </p:nvSpPr>
        <p:spPr>
          <a:xfrm>
            <a:off x="685800" y="1901952"/>
            <a:ext cx="73152" cy="16459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48095" y="1737360"/>
            <a:ext cx="530352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320040" rIns="182880" tIns="164592"/>
          <a:lstStyle/>
          <a:p>
            <a:pPr algn="ctr">
              <a:defRPr sz="1150" b="1">
                <a:solidFill>
                  <a:srgbClr val="0284C7"/>
                </a:solidFill>
                <a:latin typeface="Segoe UI"/>
              </a:defRPr>
            </a:pPr>
            <a:r>
              <a:t>MATHEMATICAL &amp; STATISTICAL DETECTION</a:t>
            </a:r>
          </a:p>
          <a:p>
            <a:pPr>
              <a:spcBef>
                <a:spcPts val="600"/>
              </a:spcBef>
              <a:defRPr sz="950">
                <a:solidFill>
                  <a:srgbClr val="94A3B8"/>
                </a:solidFill>
                <a:latin typeface="Segoe UI"/>
              </a:defRPr>
            </a:pPr>
            <a:r>
              <a:t>Detects encrypted C2 channels, covert DNS tunneling (MITRE T1071.004), and DGAs using Shannon entropy calculations and phonetic ratio models.</a:t>
            </a:r>
          </a:p>
        </p:txBody>
      </p:sp>
      <p:sp>
        <p:nvSpPr>
          <p:cNvPr id="7" name="Rectangle 6"/>
          <p:cNvSpPr/>
          <p:nvPr/>
        </p:nvSpPr>
        <p:spPr>
          <a:xfrm>
            <a:off x="6385255" y="1901952"/>
            <a:ext cx="73152" cy="1645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4023360"/>
            <a:ext cx="530352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320040" rIns="182880" tIns="164592"/>
          <a:lstStyle/>
          <a:p>
            <a:pPr algn="ctr">
              <a:defRPr sz="1150" b="1">
                <a:solidFill>
                  <a:srgbClr val="9333EA"/>
                </a:solidFill>
                <a:latin typeface="Segoe UI"/>
              </a:defRPr>
            </a:pPr>
            <a:r>
              <a:t>AI-DRIVEN INCIDENT RESPONSE</a:t>
            </a:r>
          </a:p>
          <a:p>
            <a:pPr>
              <a:spcBef>
                <a:spcPts val="600"/>
              </a:spcBef>
              <a:defRPr sz="950">
                <a:solidFill>
                  <a:srgbClr val="94A3B8"/>
                </a:solidFill>
                <a:latin typeface="Segoe UI"/>
              </a:defRPr>
            </a:pPr>
            <a:r>
              <a:t>Reduces SOC mean-time-to-contain (MTTC) by 85% with an AI Copilot that automatically synthesizes Linux iptables, Windows netsh, and Suricata IDS drop rules.</a:t>
            </a:r>
          </a:p>
        </p:txBody>
      </p:sp>
      <p:sp>
        <p:nvSpPr>
          <p:cNvPr id="9" name="Rectangle 8"/>
          <p:cNvSpPr/>
          <p:nvPr/>
        </p:nvSpPr>
        <p:spPr>
          <a:xfrm>
            <a:off x="685800" y="4187952"/>
            <a:ext cx="73152" cy="164592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48095" y="4023360"/>
            <a:ext cx="530352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320040" rIns="182880" tIns="164592"/>
          <a:lstStyle/>
          <a:p>
            <a:pPr algn="ctr">
              <a:defRPr sz="1150" b="1">
                <a:solidFill>
                  <a:srgbClr val="10B981"/>
                </a:solidFill>
                <a:latin typeface="Segoe UI"/>
              </a:defRPr>
            </a:pPr>
            <a:r>
              <a:t>OPEN STANDARDS &amp; ENTERPRISE SCALE</a:t>
            </a:r>
          </a:p>
          <a:p>
            <a:pPr>
              <a:spcBef>
                <a:spcPts val="600"/>
              </a:spcBef>
              <a:defRPr sz="950">
                <a:solidFill>
                  <a:srgbClr val="94A3B8"/>
                </a:solidFill>
                <a:latin typeface="Segoe UI"/>
              </a:defRPr>
            </a:pPr>
            <a:r>
              <a:t>Fully compliant with OASIS STIX 2.1, RFC 1071, and MITRE ATT&amp;CK v14. Validated with 12/12 passing automated test suites and 0-error production builds.</a:t>
            </a:r>
          </a:p>
        </p:txBody>
      </p:sp>
      <p:sp>
        <p:nvSpPr>
          <p:cNvPr id="11" name="Rectangle 10"/>
          <p:cNvSpPr/>
          <p:nvPr/>
        </p:nvSpPr>
        <p:spPr>
          <a:xfrm>
            <a:off x="6385255" y="4187952"/>
            <a:ext cx="73152" cy="1645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82512"/>
            <a:ext cx="7772400" cy="219456"/>
          </a:xfrm>
          <a:prstGeom prst="rect">
            <a:avLst/>
          </a:prstGeom>
          <a:noFill/>
        </p:spPr>
        <p:txBody>
          <a:bodyPr wrap="none">
            <a:spAutoFit/>
          </a:bodyPr>
          <a:lstStyle/>
          <a:p>
            <a:pPr>
              <a:defRPr sz="850">
                <a:solidFill>
                  <a:srgbClr val="64748B"/>
                </a:solidFill>
                <a:latin typeface="Segoe UI"/>
              </a:defRPr>
            </a:pPr>
            <a:r>
              <a:t>Sentinel Enterprise Platform (v2.0) | Thank you. Questions &amp; Technical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